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9" r:id="rId6"/>
    <p:sldId id="260" r:id="rId7"/>
    <p:sldId id="261" r:id="rId8"/>
    <p:sldId id="262" r:id="rId9"/>
    <p:sldId id="263" r:id="rId10"/>
    <p:sldId id="264" r:id="rId11"/>
    <p:sldId id="270" r:id="rId12"/>
    <p:sldId id="271" r:id="rId13"/>
    <p:sldId id="273" r:id="rId14"/>
    <p:sldId id="274" r:id="rId15"/>
    <p:sldId id="275" r:id="rId16"/>
    <p:sldId id="276" r:id="rId17"/>
    <p:sldId id="267" r:id="rId18"/>
    <p:sldId id="26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04" autoAdjust="0"/>
  </p:normalViewPr>
  <p:slideViewPr>
    <p:cSldViewPr>
      <p:cViewPr varScale="1">
        <p:scale>
          <a:sx n="70" d="100"/>
          <a:sy n="70" d="100"/>
        </p:scale>
        <p:origin x="-1156" y="-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DEC729-6C74-4A96-918C-A1CC402A6112}"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6C1FFA-424E-4854-B6B7-3935D7137C82}" type="slidenum">
              <a:rPr lang="en-US" smtClean="0"/>
              <a:t>‹#›</a:t>
            </a:fld>
            <a:endParaRPr lang="en-US"/>
          </a:p>
        </p:txBody>
      </p:sp>
    </p:spTree>
    <p:extLst>
      <p:ext uri="{BB962C8B-B14F-4D97-AF65-F5344CB8AC3E}">
        <p14:creationId xmlns:p14="http://schemas.microsoft.com/office/powerpoint/2010/main" val="2984398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6C1FFA-424E-4854-B6B7-3935D7137C82}" type="slidenum">
              <a:rPr lang="en-US" smtClean="0"/>
              <a:t>8</a:t>
            </a:fld>
            <a:endParaRPr lang="en-US"/>
          </a:p>
        </p:txBody>
      </p:sp>
    </p:spTree>
    <p:extLst>
      <p:ext uri="{BB962C8B-B14F-4D97-AF65-F5344CB8AC3E}">
        <p14:creationId xmlns:p14="http://schemas.microsoft.com/office/powerpoint/2010/main" val="851839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6C1FFA-424E-4854-B6B7-3935D7137C82}" type="slidenum">
              <a:rPr lang="en-US" smtClean="0"/>
              <a:t>18</a:t>
            </a:fld>
            <a:endParaRPr lang="en-US"/>
          </a:p>
        </p:txBody>
      </p:sp>
    </p:spTree>
    <p:extLst>
      <p:ext uri="{BB962C8B-B14F-4D97-AF65-F5344CB8AC3E}">
        <p14:creationId xmlns:p14="http://schemas.microsoft.com/office/powerpoint/2010/main" val="2259791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19B881-0CFF-45D3-984D-BDC266E90AE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843048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19B881-0CFF-45D3-984D-BDC266E90AE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1614055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19B881-0CFF-45D3-984D-BDC266E90AE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259930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19B881-0CFF-45D3-984D-BDC266E90AE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338141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19B881-0CFF-45D3-984D-BDC266E90AE9}"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2671284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19B881-0CFF-45D3-984D-BDC266E90AE9}"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143454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19B881-0CFF-45D3-984D-BDC266E90AE9}"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2655729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19B881-0CFF-45D3-984D-BDC266E90AE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924093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19B881-0CFF-45D3-984D-BDC266E90AE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3015370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19B881-0CFF-45D3-984D-BDC266E90AE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3198248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19B881-0CFF-45D3-984D-BDC266E90AE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77D16-524B-468D-97F1-12BE38F5A7B1}" type="slidenum">
              <a:rPr lang="en-US" smtClean="0"/>
              <a:t>‹#›</a:t>
            </a:fld>
            <a:endParaRPr lang="en-US"/>
          </a:p>
        </p:txBody>
      </p:sp>
    </p:spTree>
    <p:extLst>
      <p:ext uri="{BB962C8B-B14F-4D97-AF65-F5344CB8AC3E}">
        <p14:creationId xmlns:p14="http://schemas.microsoft.com/office/powerpoint/2010/main" val="1757286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9B881-0CFF-45D3-984D-BDC266E90AE9}"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177D16-524B-468D-97F1-12BE38F5A7B1}" type="slidenum">
              <a:rPr lang="en-US" smtClean="0"/>
              <a:t>‹#›</a:t>
            </a:fld>
            <a:endParaRPr lang="en-US"/>
          </a:p>
        </p:txBody>
      </p:sp>
    </p:spTree>
    <p:extLst>
      <p:ext uri="{BB962C8B-B14F-4D97-AF65-F5344CB8AC3E}">
        <p14:creationId xmlns:p14="http://schemas.microsoft.com/office/powerpoint/2010/main" val="2462847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43548" y="381000"/>
            <a:ext cx="5841076" cy="1200329"/>
          </a:xfrm>
          <a:prstGeom prst="rect">
            <a:avLst/>
          </a:prstGeom>
        </p:spPr>
        <p:txBody>
          <a:bodyPr wrap="square">
            <a:spAutoFit/>
          </a:bodyPr>
          <a:lstStyle/>
          <a:p>
            <a:r>
              <a:rPr lang="en-US" b="1" dirty="0" smtClean="0">
                <a:latin typeface="Times New Roman"/>
                <a:cs typeface="Times New Roman"/>
              </a:rPr>
              <a:t>                       Department </a:t>
            </a:r>
            <a:r>
              <a:rPr lang="en-US" b="1" dirty="0">
                <a:latin typeface="Times New Roman"/>
                <a:cs typeface="Times New Roman"/>
              </a:rPr>
              <a:t>of Biotechnology</a:t>
            </a:r>
            <a:r>
              <a:rPr lang="en-US" dirty="0">
                <a:latin typeface="Times New Roman"/>
                <a:cs typeface="Times New Roman"/>
              </a:rPr>
              <a:t/>
            </a:r>
            <a:br>
              <a:rPr lang="en-US" dirty="0">
                <a:latin typeface="Times New Roman"/>
                <a:cs typeface="Times New Roman"/>
              </a:rPr>
            </a:br>
            <a:r>
              <a:rPr lang="en-US" b="1" dirty="0">
                <a:latin typeface="Times New Roman"/>
                <a:cs typeface="Times New Roman"/>
              </a:rPr>
              <a:t>    </a:t>
            </a:r>
            <a:r>
              <a:rPr lang="en-US" b="1" dirty="0" smtClean="0">
                <a:latin typeface="Times New Roman"/>
                <a:cs typeface="Times New Roman"/>
              </a:rPr>
              <a:t> </a:t>
            </a:r>
            <a:r>
              <a:rPr lang="en-US" b="1" dirty="0">
                <a:latin typeface="Times New Roman"/>
                <a:cs typeface="Times New Roman"/>
              </a:rPr>
              <a:t>THE OXFORD COLLEGE OF ENGINEERING</a:t>
            </a:r>
            <a:r>
              <a:rPr lang="en-US" dirty="0">
                <a:latin typeface="Times New Roman"/>
                <a:cs typeface="Times New Roman"/>
              </a:rPr>
              <a:t/>
            </a:r>
            <a:br>
              <a:rPr lang="en-US" dirty="0">
                <a:latin typeface="Times New Roman"/>
                <a:cs typeface="Times New Roman"/>
              </a:rPr>
            </a:br>
            <a:r>
              <a:rPr lang="en-US" b="1" dirty="0">
                <a:latin typeface="Times New Roman"/>
                <a:cs typeface="Times New Roman"/>
              </a:rPr>
              <a:t>               </a:t>
            </a:r>
            <a:r>
              <a:rPr lang="en-US" b="1" dirty="0" err="1" smtClean="0">
                <a:latin typeface="Times New Roman"/>
                <a:cs typeface="Times New Roman"/>
              </a:rPr>
              <a:t>Bommanahalli</a:t>
            </a:r>
            <a:r>
              <a:rPr lang="en-US" b="1" dirty="0">
                <a:latin typeface="Times New Roman"/>
                <a:cs typeface="Times New Roman"/>
              </a:rPr>
              <a:t>, Bangalore-560068.</a:t>
            </a:r>
            <a:r>
              <a:rPr lang="en-US" dirty="0">
                <a:latin typeface="Times New Roman"/>
                <a:cs typeface="Times New Roman"/>
              </a:rPr>
              <a:t/>
            </a:r>
            <a:br>
              <a:rPr lang="en-US" dirty="0">
                <a:latin typeface="Times New Roman"/>
                <a:cs typeface="Times New Roman"/>
              </a:rPr>
            </a:br>
            <a:r>
              <a:rPr lang="en-US" b="1" dirty="0">
                <a:latin typeface="Times New Roman"/>
                <a:cs typeface="Times New Roman"/>
              </a:rPr>
              <a:t>(VTU Affiliated, AICTE Approved and </a:t>
            </a:r>
            <a:r>
              <a:rPr lang="en-US" b="1" dirty="0" smtClean="0">
                <a:latin typeface="Times New Roman"/>
                <a:cs typeface="Times New Roman"/>
              </a:rPr>
              <a:t>NBA accredited)</a:t>
            </a:r>
            <a:endParaRPr lang="en-US" dirty="0"/>
          </a:p>
        </p:txBody>
      </p:sp>
      <p:pic>
        <p:nvPicPr>
          <p:cNvPr id="6" name="Picture 5" descr="A circular logo with text and images&#10;&#10;AI-generated content may be incorrect.">
            <a:extLst>
              <a:ext uri="{FF2B5EF4-FFF2-40B4-BE49-F238E27FC236}">
                <a16:creationId xmlns:lc="http://schemas.openxmlformats.org/drawingml/2006/lockedCanvas" xmlns:a16="http://schemas.microsoft.com/office/drawing/2014/main" xmlns="" id="{D853B519-A221-4328-9BDF-994974A00942}"/>
              </a:ext>
            </a:extLst>
          </p:cNvPr>
          <p:cNvPicPr>
            <a:picLocks noChangeAspect="1"/>
          </p:cNvPicPr>
          <p:nvPr/>
        </p:nvPicPr>
        <p:blipFill>
          <a:blip r:embed="rId2"/>
          <a:stretch>
            <a:fillRect/>
          </a:stretch>
        </p:blipFill>
        <p:spPr>
          <a:xfrm>
            <a:off x="97326" y="0"/>
            <a:ext cx="1676400" cy="1658949"/>
          </a:xfrm>
          <a:prstGeom prst="rect">
            <a:avLst/>
          </a:prstGeom>
        </p:spPr>
      </p:pic>
      <p:pic>
        <p:nvPicPr>
          <p:cNvPr id="7" name="Picture 6" descr="A logo with a person holding a guitar&#10;&#10;AI-generated content may be incorrect.">
            <a:extLst>
              <a:ext uri="{FF2B5EF4-FFF2-40B4-BE49-F238E27FC236}">
                <a16:creationId xmlns:lc="http://schemas.openxmlformats.org/drawingml/2006/lockedCanvas" xmlns:a16="http://schemas.microsoft.com/office/drawing/2014/main" xmlns="" id="{32EA0AD9-5336-40C3-A8A9-2B6D2699568A}"/>
              </a:ext>
            </a:extLst>
          </p:cNvPr>
          <p:cNvPicPr>
            <a:picLocks noChangeAspect="1"/>
          </p:cNvPicPr>
          <p:nvPr/>
        </p:nvPicPr>
        <p:blipFill>
          <a:blip r:embed="rId3"/>
          <a:stretch>
            <a:fillRect/>
          </a:stretch>
        </p:blipFill>
        <p:spPr>
          <a:xfrm>
            <a:off x="7391400" y="15089"/>
            <a:ext cx="1695409" cy="1676400"/>
          </a:xfrm>
          <a:prstGeom prst="rect">
            <a:avLst/>
          </a:prstGeom>
        </p:spPr>
      </p:pic>
      <p:sp>
        <p:nvSpPr>
          <p:cNvPr id="8" name="TextBox 7">
            <a:extLst>
              <a:ext uri="{FF2B5EF4-FFF2-40B4-BE49-F238E27FC236}">
                <a16:creationId xmlns="" xmlns:a16="http://schemas.microsoft.com/office/drawing/2014/main" id="{E0A9D217-C359-4D20-8576-33D6395D808C}"/>
              </a:ext>
            </a:extLst>
          </p:cNvPr>
          <p:cNvSpPr txBox="1"/>
          <p:nvPr/>
        </p:nvSpPr>
        <p:spPr>
          <a:xfrm>
            <a:off x="97326" y="1828800"/>
            <a:ext cx="868680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sz="2400" b="1" dirty="0">
              <a:latin typeface="Times New Roman"/>
              <a:cs typeface="Times New Roman"/>
            </a:endParaRPr>
          </a:p>
          <a:p>
            <a:r>
              <a:rPr lang="en-IN" sz="2400" b="1" dirty="0">
                <a:latin typeface="Times New Roman"/>
                <a:cs typeface="Times New Roman"/>
              </a:rPr>
              <a:t>                       </a:t>
            </a:r>
            <a:r>
              <a:rPr lang="en-IN" sz="2400" b="1" dirty="0" smtClean="0">
                <a:latin typeface="Times New Roman"/>
                <a:cs typeface="Times New Roman"/>
              </a:rPr>
              <a:t>INTERNSHIP  PRESENTATION </a:t>
            </a:r>
            <a:r>
              <a:rPr lang="en-IN" sz="2400" b="1" dirty="0">
                <a:latin typeface="Times New Roman"/>
                <a:cs typeface="Times New Roman"/>
              </a:rPr>
              <a:t>ON</a:t>
            </a:r>
            <a:r>
              <a:rPr lang="en-IN" sz="2400" b="1" dirty="0" smtClean="0">
                <a:latin typeface="Times New Roman"/>
                <a:cs typeface="Times New Roman"/>
              </a:rPr>
              <a:t>:</a:t>
            </a:r>
          </a:p>
          <a:p>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Mindmatrix</a:t>
            </a:r>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              Android App Development Using Generative AI</a:t>
            </a:r>
            <a:endParaRPr lang="en-IN" sz="2400" b="1" dirty="0" smtClean="0">
              <a:latin typeface="Times New Roman" pitchFamily="18" charset="0"/>
              <a:cs typeface="Times New Roman" pitchFamily="18" charset="0"/>
            </a:endParaRPr>
          </a:p>
          <a:p>
            <a:endParaRPr lang="en-IN" sz="2400" b="1" dirty="0">
              <a:latin typeface="Times New Roman"/>
              <a:cs typeface="Times New Roman"/>
            </a:endParaRPr>
          </a:p>
          <a:p>
            <a:r>
              <a:rPr lang="en-IN" sz="2400" b="1" dirty="0" smtClean="0">
                <a:latin typeface="Times New Roman"/>
                <a:cs typeface="Times New Roman"/>
              </a:rPr>
              <a:t>                                   PRESENTED  BY:</a:t>
            </a:r>
          </a:p>
          <a:p>
            <a:r>
              <a:rPr lang="en-IN" sz="2400" b="1" dirty="0">
                <a:latin typeface="Times New Roman"/>
                <a:cs typeface="Times New Roman"/>
              </a:rPr>
              <a:t> </a:t>
            </a:r>
            <a:r>
              <a:rPr lang="en-IN" sz="2400" b="1" dirty="0" smtClean="0">
                <a:latin typeface="Times New Roman"/>
                <a:cs typeface="Times New Roman"/>
              </a:rPr>
              <a:t>              </a:t>
            </a:r>
            <a:r>
              <a:rPr lang="en-IN" sz="2400" dirty="0" smtClean="0">
                <a:latin typeface="Times New Roman"/>
                <a:cs typeface="Times New Roman"/>
              </a:rPr>
              <a:t>KIRTHI M HANGALLMATH(10X22BT012)</a:t>
            </a:r>
            <a:endParaRPr lang="en-IN" sz="2400" dirty="0">
              <a:latin typeface="Times New Roman"/>
              <a:cs typeface="Times New Roman"/>
            </a:endParaRPr>
          </a:p>
          <a:p>
            <a:r>
              <a:rPr lang="en-IN" sz="2400" b="1" dirty="0">
                <a:solidFill>
                  <a:srgbClr val="000000"/>
                </a:solidFill>
                <a:latin typeface="Times New Roman"/>
                <a:cs typeface="Times New Roman"/>
              </a:rPr>
              <a:t> </a:t>
            </a:r>
            <a:r>
              <a:rPr lang="en-IN" sz="2400" b="1" dirty="0" smtClean="0">
                <a:solidFill>
                  <a:srgbClr val="000000"/>
                </a:solidFill>
                <a:latin typeface="Times New Roman"/>
                <a:cs typeface="Times New Roman"/>
              </a:rPr>
              <a:t>     </a:t>
            </a:r>
          </a:p>
          <a:p>
            <a:r>
              <a:rPr lang="en-IN" sz="2400" b="1" dirty="0">
                <a:solidFill>
                  <a:srgbClr val="000000"/>
                </a:solidFill>
                <a:latin typeface="Times New Roman"/>
                <a:cs typeface="Times New Roman"/>
              </a:rPr>
              <a:t> </a:t>
            </a:r>
            <a:r>
              <a:rPr lang="en-IN" sz="2400" b="1" dirty="0" smtClean="0">
                <a:solidFill>
                  <a:srgbClr val="000000"/>
                </a:solidFill>
                <a:latin typeface="Times New Roman"/>
                <a:cs typeface="Times New Roman"/>
              </a:rPr>
              <a:t>            </a:t>
            </a:r>
            <a:r>
              <a:rPr lang="en-US" sz="2400" b="1" dirty="0" smtClean="0">
                <a:latin typeface="Times New Roman" pitchFamily="18" charset="0"/>
                <a:cs typeface="Times New Roman" pitchFamily="18" charset="0"/>
              </a:rPr>
              <a:t>Internship Duration </a:t>
            </a:r>
            <a:r>
              <a:rPr lang="en-US" sz="2400" dirty="0" smtClean="0">
                <a:latin typeface="Times New Roman" pitchFamily="18" charset="0"/>
                <a:cs typeface="Times New Roman" pitchFamily="18" charset="0"/>
              </a:rPr>
              <a:t>: 02-02-2026 TO 20-05-2026</a:t>
            </a:r>
            <a:endParaRPr lang="en-IN" sz="2400" dirty="0" smtClean="0">
              <a:latin typeface="Times New Roman" pitchFamily="18" charset="0"/>
              <a:cs typeface="Times New Roman" pitchFamily="18" charset="0"/>
            </a:endParaRPr>
          </a:p>
          <a:p>
            <a:endParaRPr lang="en-IN" sz="2400" b="1" dirty="0">
              <a:solidFill>
                <a:srgbClr val="000000"/>
              </a:solidFill>
              <a:latin typeface="Times New Roman" pitchFamily="18" charset="0"/>
              <a:cs typeface="Times New Roman" pitchFamily="18" charset="0"/>
            </a:endParaRPr>
          </a:p>
          <a:p>
            <a:r>
              <a:rPr lang="en-IN" sz="2400" dirty="0">
                <a:solidFill>
                  <a:schemeClr val="accent1"/>
                </a:solidFill>
                <a:latin typeface="Times New Roman"/>
                <a:cs typeface="Times New Roman"/>
              </a:rPr>
              <a:t>                    </a:t>
            </a:r>
            <a:endParaRPr lang="en-US" dirty="0">
              <a:solidFill>
                <a:schemeClr val="accent1"/>
              </a:solidFill>
            </a:endParaRPr>
          </a:p>
        </p:txBody>
      </p:sp>
    </p:spTree>
    <p:extLst>
      <p:ext uri="{BB962C8B-B14F-4D97-AF65-F5344CB8AC3E}">
        <p14:creationId xmlns:p14="http://schemas.microsoft.com/office/powerpoint/2010/main" val="39878713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a:bodyPr>
          <a:lstStyle/>
          <a:p>
            <a:r>
              <a:rPr lang="en-US" sz="3600" b="1" dirty="0" smtClean="0">
                <a:latin typeface="Times New Roman" pitchFamily="18" charset="0"/>
                <a:cs typeface="Times New Roman" pitchFamily="18" charset="0"/>
              </a:rPr>
              <a:t>INTRODUCTION</a:t>
            </a:r>
            <a:endParaRPr lang="en-US" sz="3600" b="1" dirty="0">
              <a:latin typeface="Times New Roman" pitchFamily="18" charset="0"/>
              <a:cs typeface="Times New Roman" pitchFamily="18" charset="0"/>
            </a:endParaRPr>
          </a:p>
        </p:txBody>
      </p:sp>
      <p:sp>
        <p:nvSpPr>
          <p:cNvPr id="3" name="Rectangle 2"/>
          <p:cNvSpPr/>
          <p:nvPr/>
        </p:nvSpPr>
        <p:spPr>
          <a:xfrm>
            <a:off x="152400" y="1143000"/>
            <a:ext cx="8763000" cy="4401205"/>
          </a:xfrm>
          <a:prstGeom prst="rect">
            <a:avLst/>
          </a:prstGeom>
        </p:spPr>
        <p:txBody>
          <a:bodyPr wrap="square">
            <a:spAutoFit/>
          </a:bodyPr>
          <a:lstStyle/>
          <a:p>
            <a:pPr algn="just"/>
            <a:r>
              <a:rPr lang="en-US" sz="2000" dirty="0" smtClean="0">
                <a:latin typeface="Times New Roman" pitchFamily="18" charset="0"/>
                <a:cs typeface="Times New Roman" pitchFamily="18" charset="0"/>
              </a:rPr>
              <a:t>The internship focuses on Android App Development using Generative AI, which combines Artificial Intelligence techniques with mobile application development to create smart and efficient applications.</a:t>
            </a:r>
          </a:p>
          <a:p>
            <a:pPr algn="just"/>
            <a:r>
              <a:rPr lang="en-US" sz="2000" dirty="0" smtClean="0">
                <a:latin typeface="Times New Roman" pitchFamily="18" charset="0"/>
                <a:cs typeface="Times New Roman" pitchFamily="18" charset="0"/>
              </a:rPr>
              <a:t>Generative AI is a modern technology that enables systems to generate content, automate tasks, and improve user interaction based on given inputs. Integrating this technology with Android development helps in building applications that are more intelligent and user-friendly.</a:t>
            </a:r>
          </a:p>
          <a:p>
            <a:pPr algn="just"/>
            <a:r>
              <a:rPr lang="en-US" sz="2000" dirty="0" smtClean="0">
                <a:latin typeface="Times New Roman" pitchFamily="18" charset="0"/>
                <a:cs typeface="Times New Roman" pitchFamily="18" charset="0"/>
              </a:rPr>
              <a:t>The development of applications is carried out using </a:t>
            </a:r>
            <a:r>
              <a:rPr lang="en-US" sz="2000" dirty="0" err="1" smtClean="0">
                <a:latin typeface="Times New Roman" pitchFamily="18" charset="0"/>
                <a:cs typeface="Times New Roman" pitchFamily="18" charset="0"/>
              </a:rPr>
              <a:t>Kotlin</a:t>
            </a:r>
            <a:r>
              <a:rPr lang="en-US" sz="2000" dirty="0" smtClean="0">
                <a:latin typeface="Times New Roman" pitchFamily="18" charset="0"/>
                <a:cs typeface="Times New Roman" pitchFamily="18" charset="0"/>
              </a:rPr>
              <a:t> programming language, which is widely used for Android app development due to its simplicity and efficiency. The applications are built using Android Studio, which provides tools for designing, coding, testing, and debugging mobile applications.</a:t>
            </a:r>
          </a:p>
          <a:p>
            <a:pPr algn="just"/>
            <a:r>
              <a:rPr lang="en-US" sz="2000" dirty="0" smtClean="0">
                <a:latin typeface="Times New Roman" pitchFamily="18" charset="0"/>
                <a:cs typeface="Times New Roman" pitchFamily="18" charset="0"/>
              </a:rPr>
              <a:t>This internship mainly focuses on understanding how AI can be applied in real-world mobile applications to enhance functionality, improve user experience, and support modern application requirements</a:t>
            </a:r>
            <a:r>
              <a:rPr lang="en-US" sz="2000" dirty="0" smtClean="0"/>
              <a:t>.</a:t>
            </a:r>
            <a:endParaRPr lang="en-US" sz="2000" dirty="0"/>
          </a:p>
        </p:txBody>
      </p:sp>
    </p:spTree>
    <p:extLst>
      <p:ext uri="{BB962C8B-B14F-4D97-AF65-F5344CB8AC3E}">
        <p14:creationId xmlns:p14="http://schemas.microsoft.com/office/powerpoint/2010/main" val="2737978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2400" y="304800"/>
            <a:ext cx="8839200" cy="5016758"/>
          </a:xfrm>
          <a:prstGeom prst="rect">
            <a:avLst/>
          </a:prstGeom>
        </p:spPr>
        <p:txBody>
          <a:bodyPr wrap="square">
            <a:spAutoFit/>
          </a:bodyPr>
          <a:lstStyle/>
          <a:p>
            <a:pPr algn="just"/>
            <a:r>
              <a:rPr lang="en-US" sz="2000" dirty="0" smtClean="0">
                <a:latin typeface="Times New Roman" pitchFamily="18" charset="0"/>
                <a:cs typeface="Times New Roman" pitchFamily="18" charset="0"/>
              </a:rPr>
              <a:t>During this internship, I learned the fundamentals of </a:t>
            </a:r>
            <a:r>
              <a:rPr lang="en-US" sz="2000" dirty="0" err="1" smtClean="0">
                <a:latin typeface="Times New Roman" pitchFamily="18" charset="0"/>
                <a:cs typeface="Times New Roman" pitchFamily="18" charset="0"/>
              </a:rPr>
              <a:t>Kotlin</a:t>
            </a:r>
            <a:r>
              <a:rPr lang="en-US" sz="2000" dirty="0" smtClean="0">
                <a:latin typeface="Times New Roman" pitchFamily="18" charset="0"/>
                <a:cs typeface="Times New Roman" pitchFamily="18" charset="0"/>
              </a:rPr>
              <a:t> programming and its application in Android development. I gained practical knowledge of creating applications, designing user interfaces, and implementing application logic.</a:t>
            </a:r>
          </a:p>
          <a:p>
            <a:pPr algn="just"/>
            <a:r>
              <a:rPr lang="en-US" sz="2000" dirty="0" smtClean="0">
                <a:latin typeface="Times New Roman" pitchFamily="18" charset="0"/>
                <a:cs typeface="Times New Roman" pitchFamily="18" charset="0"/>
              </a:rPr>
              <a:t>I developed skills in user interface design, including text formatting, background customization, and proper layout arrangement to ensure better readability and user experience. I also learned how to handle user input using input fields, implement button click events, and manage navigation between different screens within an application.</a:t>
            </a:r>
          </a:p>
          <a:p>
            <a:pPr algn="just"/>
            <a:r>
              <a:rPr lang="en-US" sz="2000" dirty="0" smtClean="0">
                <a:latin typeface="Times New Roman" pitchFamily="18" charset="0"/>
                <a:cs typeface="Times New Roman" pitchFamily="18" charset="0"/>
              </a:rPr>
              <a:t>In addition, I understood how data is handled within applications, including capturing, processing, and displaying user information. I also explored basic concepts of authentication and security, such as login systems, to ensure safe access to applications.</a:t>
            </a:r>
          </a:p>
          <a:p>
            <a:pPr algn="just"/>
            <a:r>
              <a:rPr lang="en-US" sz="2000" dirty="0" smtClean="0">
                <a:latin typeface="Times New Roman" pitchFamily="18" charset="0"/>
                <a:cs typeface="Times New Roman" pitchFamily="18" charset="0"/>
              </a:rPr>
              <a:t>Furthermore, I gained an understanding of how Generative AI tools can assist in application development, including improving design, supporting logic building, and enhancing overall efficiency. This internship provided a complete overview of developing mobile applications from basic design to functional implementation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968891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87" y="92075"/>
            <a:ext cx="8610600" cy="525462"/>
          </a:xfrm>
        </p:spPr>
        <p:txBody>
          <a:bodyPr>
            <a:noAutofit/>
          </a:bodyPr>
          <a:lstStyle/>
          <a:p>
            <a:r>
              <a:rPr lang="en-US" sz="3600" b="1" dirty="0" smtClean="0">
                <a:latin typeface="Times New Roman" pitchFamily="18" charset="0"/>
                <a:cs typeface="Times New Roman" pitchFamily="18" charset="0"/>
              </a:rPr>
              <a:t>Company Overview</a:t>
            </a:r>
            <a:endParaRPr lang="en-US" sz="3600" b="1" dirty="0">
              <a:latin typeface="Times New Roman" pitchFamily="18" charset="0"/>
              <a:cs typeface="Times New Roman" pitchFamily="18" charset="0"/>
            </a:endParaRPr>
          </a:p>
        </p:txBody>
      </p:sp>
      <p:sp>
        <p:nvSpPr>
          <p:cNvPr id="3" name="AutoShape 2" descr="Mindmatrix LMS – Personalized Learning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Mindmatrix LMS – Personalized Learning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Mindmatrix LMS – Personalized Learni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descr="Mindmatrix LMS – Personalized Learning ..."/>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Mindmatrix LMS – Personalized Learning ..."/>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2" descr="Mindmatrix LMS – Personalized Learning ..."/>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4" descr="Mindmatrix LMS – Personalized Learning ..."/>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735626"/>
            <a:ext cx="3352799" cy="2190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307975" y="3200400"/>
            <a:ext cx="8150225" cy="3416320"/>
          </a:xfrm>
          <a:prstGeom prst="rect">
            <a:avLst/>
          </a:prstGeom>
        </p:spPr>
        <p:txBody>
          <a:bodyPr wrap="square">
            <a:spAutoFit/>
          </a:bodyPr>
          <a:lstStyle/>
          <a:p>
            <a:pPr algn="just"/>
            <a:r>
              <a:rPr lang="en-US" dirty="0" smtClean="0"/>
              <a:t>Mind Matrix is a technology and learning-based organization that focuses on providing AI-powered education and skill development programs. It aims to bridge the gap between academic knowledge and industry requirements by offering practical training and internship opportunities.</a:t>
            </a:r>
          </a:p>
          <a:p>
            <a:pPr algn="just"/>
            <a:r>
              <a:rPr lang="en-US" dirty="0" smtClean="0"/>
              <a:t>The company provides structured learning programs in areas such as Artificial Intelligence, Android App Development, and software technologies, helping students build real-world skills. It operates through a learning platform that includes mentorship, hands-on projects, and guided training. </a:t>
            </a:r>
          </a:p>
          <a:p>
            <a:pPr algn="just"/>
            <a:r>
              <a:rPr lang="en-US" dirty="0" smtClean="0"/>
              <a:t>Mind Matrix also supports students in becoming industry-ready by focusing on practical implementation, problem-solving skills, and project-based learning. It emphasizes the importance of combining knowledge with technical and professional skills to prepare learners for modern careers. </a:t>
            </a:r>
            <a:endParaRPr lang="en-US" dirty="0"/>
          </a:p>
        </p:txBody>
      </p:sp>
      <p:sp>
        <p:nvSpPr>
          <p:cNvPr id="11" name="Rectangle 10"/>
          <p:cNvSpPr/>
          <p:nvPr/>
        </p:nvSpPr>
        <p:spPr>
          <a:xfrm>
            <a:off x="3276600" y="769938"/>
            <a:ext cx="5686329" cy="2308324"/>
          </a:xfrm>
          <a:prstGeom prst="rect">
            <a:avLst/>
          </a:prstGeom>
        </p:spPr>
        <p:txBody>
          <a:bodyPr wrap="square">
            <a:spAutoFit/>
          </a:bodyPr>
          <a:lstStyle/>
          <a:p>
            <a:pPr algn="just"/>
            <a:r>
              <a:rPr lang="en-US" b="1" dirty="0" err="1" smtClean="0"/>
              <a:t>Organization</a:t>
            </a:r>
            <a:r>
              <a:rPr lang="en-US" dirty="0" err="1" smtClean="0"/>
              <a:t>:MindMatrix</a:t>
            </a:r>
            <a:r>
              <a:rPr lang="en-US" dirty="0" smtClean="0"/>
              <a:t>(Learning &amp; Technology Platform)</a:t>
            </a:r>
          </a:p>
          <a:p>
            <a:pPr algn="just"/>
            <a:r>
              <a:rPr lang="en-US" b="1" dirty="0" smtClean="0"/>
              <a:t>Domain:</a:t>
            </a:r>
            <a:r>
              <a:rPr lang="en-US" dirty="0" smtClean="0"/>
              <a:t> AI, Android Development, Skill Training </a:t>
            </a:r>
          </a:p>
          <a:p>
            <a:pPr algn="just"/>
            <a:r>
              <a:rPr lang="en-US" b="1" dirty="0" smtClean="0"/>
              <a:t>Focus:</a:t>
            </a:r>
            <a:r>
              <a:rPr lang="en-US" dirty="0" smtClean="0"/>
              <a:t> Industry-oriented learning and internships </a:t>
            </a:r>
          </a:p>
          <a:p>
            <a:pPr algn="just"/>
            <a:r>
              <a:rPr lang="en-US" b="1" dirty="0" smtClean="0"/>
              <a:t>Key Features</a:t>
            </a:r>
            <a:r>
              <a:rPr lang="en-US" dirty="0" smtClean="0"/>
              <a:t>: </a:t>
            </a:r>
          </a:p>
          <a:p>
            <a:pPr marL="742950" lvl="1" indent="-285750" algn="just">
              <a:buFont typeface="Wingdings" pitchFamily="2" charset="2"/>
              <a:buChar char="§"/>
            </a:pPr>
            <a:r>
              <a:rPr lang="en-US" dirty="0" smtClean="0"/>
              <a:t>Hands-on project development </a:t>
            </a:r>
          </a:p>
          <a:p>
            <a:pPr marL="742950" lvl="1" indent="-285750" algn="just">
              <a:buFont typeface="Wingdings" pitchFamily="2" charset="2"/>
              <a:buChar char="§"/>
            </a:pPr>
            <a:r>
              <a:rPr lang="en-US" dirty="0" smtClean="0"/>
              <a:t>Mentorship and guidance </a:t>
            </a:r>
          </a:p>
          <a:p>
            <a:pPr marL="742950" lvl="1" indent="-285750" algn="just">
              <a:buFont typeface="Wingdings" pitchFamily="2" charset="2"/>
              <a:buChar char="§"/>
            </a:pPr>
            <a:r>
              <a:rPr lang="en-US" dirty="0" smtClean="0"/>
              <a:t>Real-world application learning </a:t>
            </a:r>
          </a:p>
          <a:p>
            <a:pPr marL="742950" lvl="1" indent="-285750" algn="just">
              <a:buFont typeface="Wingdings" pitchFamily="2" charset="2"/>
              <a:buChar char="§"/>
            </a:pPr>
            <a:r>
              <a:rPr lang="en-US" dirty="0" smtClean="0"/>
              <a:t>Structured internship programs</a:t>
            </a:r>
            <a:endParaRPr lang="en-US" dirty="0"/>
          </a:p>
        </p:txBody>
      </p:sp>
    </p:spTree>
    <p:extLst>
      <p:ext uri="{BB962C8B-B14F-4D97-AF65-F5344CB8AC3E}">
        <p14:creationId xmlns:p14="http://schemas.microsoft.com/office/powerpoint/2010/main" val="260150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533400"/>
            <a:ext cx="7467600" cy="4047262"/>
          </a:xfrm>
          <a:prstGeom prst="rect">
            <a:avLst/>
          </a:prstGeom>
        </p:spPr>
        <p:txBody>
          <a:bodyPr wrap="square">
            <a:spAutoFit/>
          </a:bodyPr>
          <a:lstStyle/>
          <a:p>
            <a:r>
              <a:rPr lang="en-US" sz="2500" b="1" dirty="0" smtClean="0"/>
              <a:t>Team &amp; My Role</a:t>
            </a:r>
          </a:p>
          <a:p>
            <a:pPr lvl="1"/>
            <a:r>
              <a:rPr lang="en-US" sz="2300" dirty="0" smtClean="0"/>
              <a:t>Worked as an </a:t>
            </a:r>
            <a:r>
              <a:rPr lang="en-US" sz="2300" b="1" dirty="0" smtClean="0"/>
              <a:t>Android App Developer Intern</a:t>
            </a:r>
            <a:r>
              <a:rPr lang="en-US" sz="2300" dirty="0" smtClean="0"/>
              <a:t> </a:t>
            </a:r>
          </a:p>
          <a:p>
            <a:pPr lvl="1"/>
            <a:r>
              <a:rPr lang="en-US" sz="2300" dirty="0" smtClean="0"/>
              <a:t>Collaborated with: </a:t>
            </a:r>
          </a:p>
          <a:p>
            <a:pPr lvl="2"/>
            <a:r>
              <a:rPr lang="en-US" sz="2300" dirty="0" smtClean="0"/>
              <a:t>Mentors </a:t>
            </a:r>
          </a:p>
          <a:p>
            <a:pPr lvl="2"/>
            <a:r>
              <a:rPr lang="en-US" sz="2300" dirty="0" smtClean="0"/>
              <a:t>Trainers </a:t>
            </a:r>
          </a:p>
          <a:p>
            <a:pPr lvl="2"/>
            <a:r>
              <a:rPr lang="en-US" sz="2300" dirty="0" smtClean="0"/>
              <a:t>Fellow interns </a:t>
            </a:r>
          </a:p>
          <a:p>
            <a:r>
              <a:rPr lang="en-US" sz="2500" b="1" dirty="0" smtClean="0"/>
              <a:t>Work Environment</a:t>
            </a:r>
          </a:p>
          <a:p>
            <a:pPr lvl="1"/>
            <a:r>
              <a:rPr lang="en-US" sz="2300" dirty="0" smtClean="0"/>
              <a:t>Learning-oriented and supportive environment </a:t>
            </a:r>
          </a:p>
          <a:p>
            <a:pPr lvl="1"/>
            <a:r>
              <a:rPr lang="en-US" sz="2300" dirty="0" smtClean="0"/>
              <a:t>Focus on: </a:t>
            </a:r>
          </a:p>
          <a:p>
            <a:pPr lvl="2"/>
            <a:r>
              <a:rPr lang="en-US" sz="2300" dirty="0" smtClean="0"/>
              <a:t>Hands-on coding </a:t>
            </a:r>
          </a:p>
          <a:p>
            <a:pPr lvl="2"/>
            <a:r>
              <a:rPr lang="en-US" sz="2300" dirty="0" smtClean="0"/>
              <a:t>Real-time project development </a:t>
            </a:r>
            <a:endParaRPr lang="en-US" sz="2300" dirty="0"/>
          </a:p>
        </p:txBody>
      </p:sp>
    </p:spTree>
    <p:extLst>
      <p:ext uri="{BB962C8B-B14F-4D97-AF65-F5344CB8AC3E}">
        <p14:creationId xmlns:p14="http://schemas.microsoft.com/office/powerpoint/2010/main" val="10407422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11" y="0"/>
            <a:ext cx="8458200" cy="914400"/>
          </a:xfrm>
        </p:spPr>
        <p:txBody>
          <a:bodyPr>
            <a:normAutofit/>
          </a:bodyPr>
          <a:lstStyle/>
          <a:p>
            <a:r>
              <a:rPr lang="en-US" sz="3600" b="1" dirty="0" smtClean="0">
                <a:latin typeface="Times New Roman" pitchFamily="18" charset="0"/>
                <a:cs typeface="Times New Roman" pitchFamily="18" charset="0"/>
              </a:rPr>
              <a:t>Internship Objectives</a:t>
            </a:r>
            <a:endParaRPr lang="en-US" sz="3600" b="1" dirty="0">
              <a:latin typeface="Times New Roman" pitchFamily="18" charset="0"/>
              <a:cs typeface="Times New Roman" pitchFamily="18" charset="0"/>
            </a:endParaRPr>
          </a:p>
        </p:txBody>
      </p:sp>
      <p:sp>
        <p:nvSpPr>
          <p:cNvPr id="3" name="Rectangle 2"/>
          <p:cNvSpPr/>
          <p:nvPr/>
        </p:nvSpPr>
        <p:spPr>
          <a:xfrm>
            <a:off x="152400" y="762000"/>
            <a:ext cx="8511011" cy="5028556"/>
          </a:xfrm>
          <a:prstGeom prst="rect">
            <a:avLst/>
          </a:prstGeom>
        </p:spPr>
        <p:txBody>
          <a:bodyPr wrap="square">
            <a:spAutoFit/>
          </a:bodyPr>
          <a:lstStyle/>
          <a:p>
            <a:pPr marL="342900" indent="-342900" algn="just">
              <a:lnSpc>
                <a:spcPct val="150000"/>
              </a:lnSpc>
              <a:buFont typeface="Wingdings" pitchFamily="2" charset="2"/>
              <a:buChar char="Ø"/>
            </a:pPr>
            <a:r>
              <a:rPr lang="en-US" dirty="0" smtClean="0">
                <a:latin typeface="Times New Roman" pitchFamily="18" charset="0"/>
                <a:cs typeface="Times New Roman" pitchFamily="18" charset="0"/>
              </a:rPr>
              <a:t>To understand the fundamentals of Generative AI and its applications</a:t>
            </a:r>
          </a:p>
          <a:p>
            <a:pPr marL="342900" indent="-342900" algn="just">
              <a:lnSpc>
                <a:spcPct val="150000"/>
              </a:lnSpc>
              <a:buFont typeface="Wingdings" pitchFamily="2" charset="2"/>
              <a:buChar char="Ø"/>
            </a:pPr>
            <a:r>
              <a:rPr lang="en-US" dirty="0" smtClean="0">
                <a:latin typeface="Times New Roman" pitchFamily="18" charset="0"/>
                <a:cs typeface="Times New Roman" pitchFamily="18" charset="0"/>
              </a:rPr>
              <a:t>To learn </a:t>
            </a:r>
            <a:r>
              <a:rPr lang="en-US" dirty="0" err="1" smtClean="0">
                <a:latin typeface="Times New Roman" pitchFamily="18" charset="0"/>
                <a:cs typeface="Times New Roman" pitchFamily="18" charset="0"/>
              </a:rPr>
              <a:t>Kotlin</a:t>
            </a:r>
            <a:r>
              <a:rPr lang="en-US" dirty="0" smtClean="0">
                <a:latin typeface="Times New Roman" pitchFamily="18" charset="0"/>
                <a:cs typeface="Times New Roman" pitchFamily="18" charset="0"/>
              </a:rPr>
              <a:t> programming for Android application development</a:t>
            </a:r>
          </a:p>
          <a:p>
            <a:pPr marL="342900" indent="-342900" algn="just">
              <a:lnSpc>
                <a:spcPct val="150000"/>
              </a:lnSpc>
              <a:buFont typeface="Wingdings" pitchFamily="2" charset="2"/>
              <a:buChar char="Ø"/>
            </a:pPr>
            <a:r>
              <a:rPr lang="en-US" dirty="0" smtClean="0">
                <a:latin typeface="Times New Roman" pitchFamily="18" charset="0"/>
                <a:cs typeface="Times New Roman" pitchFamily="18" charset="0"/>
              </a:rPr>
              <a:t>To gain practical experience in Android app development</a:t>
            </a:r>
          </a:p>
          <a:p>
            <a:pPr marL="342900" lvl="0" indent="-342900" algn="just">
              <a:lnSpc>
                <a:spcPct val="150000"/>
              </a:lnSpc>
              <a:buFont typeface="Wingdings" pitchFamily="2" charset="2"/>
              <a:buChar char="Ø"/>
            </a:pP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Gain practical experience in Android app development </a:t>
            </a:r>
          </a:p>
          <a:p>
            <a:pPr marL="342900" indent="-342900" algn="just">
              <a:lnSpc>
                <a:spcPct val="150000"/>
              </a:lnSpc>
              <a:buFont typeface="Wingdings" pitchFamily="2" charset="2"/>
              <a:buChar char="Ø"/>
            </a:pP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Learn and apply </a:t>
            </a:r>
            <a:r>
              <a:rPr kumimoji="0" lang="en-US" altLang="en-US" i="0" u="none" strike="noStrike" cap="none" normalizeH="0" baseline="0" dirty="0" err="1" smtClean="0">
                <a:ln>
                  <a:noFill/>
                </a:ln>
                <a:solidFill>
                  <a:schemeClr val="tx1"/>
                </a:solidFill>
                <a:effectLst/>
                <a:latin typeface="Times New Roman" pitchFamily="18" charset="0"/>
                <a:cs typeface="Times New Roman" pitchFamily="18" charset="0"/>
              </a:rPr>
              <a:t>Kotlin</a:t>
            </a: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 programming fundamentals </a:t>
            </a:r>
          </a:p>
          <a:p>
            <a:pPr marL="342900" lvl="0" indent="-342900" algn="just">
              <a:lnSpc>
                <a:spcPct val="150000"/>
              </a:lnSpc>
              <a:buFont typeface="Wingdings" pitchFamily="2" charset="2"/>
              <a:buChar char="Ø"/>
            </a:pP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Understand integration of Generative AI in mobile applications </a:t>
            </a:r>
          </a:p>
          <a:p>
            <a:pPr marL="342900" indent="-342900" algn="just">
              <a:lnSpc>
                <a:spcPct val="150000"/>
              </a:lnSpc>
              <a:buFont typeface="Wingdings" pitchFamily="2" charset="2"/>
              <a:buChar char="Ø"/>
            </a:pP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Build real-world Android projects (AI Productivity App &amp; Cupcake App) </a:t>
            </a:r>
          </a:p>
          <a:p>
            <a:pPr marL="171450" indent="-171450" algn="just">
              <a:lnSpc>
                <a:spcPct val="150000"/>
              </a:lnSpc>
              <a:buFont typeface="Wingdings" pitchFamily="2" charset="2"/>
              <a:buChar char="Ø"/>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To understand UI/UX design </a:t>
            </a:r>
            <a:r>
              <a:rPr lang="en-US" dirty="0" err="1" smtClean="0">
                <a:latin typeface="Times New Roman" pitchFamily="18" charset="0"/>
                <a:cs typeface="Times New Roman" pitchFamily="18" charset="0"/>
              </a:rPr>
              <a:t>principlesTo</a:t>
            </a:r>
            <a:r>
              <a:rPr lang="en-US" dirty="0" smtClean="0">
                <a:latin typeface="Times New Roman" pitchFamily="18" charset="0"/>
                <a:cs typeface="Times New Roman" pitchFamily="18" charset="0"/>
              </a:rPr>
              <a:t> learn event handling and input processing</a:t>
            </a:r>
          </a:p>
          <a:p>
            <a:pPr marL="342900" indent="-342900" algn="just">
              <a:lnSpc>
                <a:spcPct val="150000"/>
              </a:lnSpc>
              <a:buFont typeface="Wingdings" pitchFamily="2" charset="2"/>
              <a:buChar char="Ø"/>
            </a:pPr>
            <a:r>
              <a:rPr lang="en-US" dirty="0" smtClean="0">
                <a:latin typeface="Times New Roman" pitchFamily="18" charset="0"/>
                <a:cs typeface="Times New Roman" pitchFamily="18" charset="0"/>
              </a:rPr>
              <a:t>To understand data handling and basic security concepts</a:t>
            </a:r>
          </a:p>
          <a:p>
            <a:pPr marL="342900" indent="-342900" algn="just">
              <a:lnSpc>
                <a:spcPct val="150000"/>
              </a:lnSpc>
              <a:buFont typeface="Wingdings" pitchFamily="2" charset="2"/>
              <a:buChar char="Ø"/>
            </a:pPr>
            <a:r>
              <a:rPr lang="en-US" dirty="0" smtClean="0">
                <a:latin typeface="Times New Roman" pitchFamily="18" charset="0"/>
                <a:cs typeface="Times New Roman" pitchFamily="18" charset="0"/>
              </a:rPr>
              <a:t>To improve problem-solving and technical skills</a:t>
            </a:r>
          </a:p>
          <a:p>
            <a:pPr marL="342900" lvl="0" indent="-342900" algn="just">
              <a:lnSpc>
                <a:spcPct val="150000"/>
              </a:lnSpc>
              <a:buFont typeface="Wingdings" pitchFamily="2" charset="2"/>
              <a:buChar char="Ø"/>
            </a:pPr>
            <a:r>
              <a:rPr kumimoji="0" lang="en-US" altLang="en-US" i="0" u="none" strike="noStrike" cap="none" normalizeH="0" baseline="0" dirty="0" smtClean="0">
                <a:ln>
                  <a:noFill/>
                </a:ln>
                <a:solidFill>
                  <a:schemeClr val="tx1"/>
                </a:solidFill>
                <a:effectLst/>
                <a:latin typeface="Times New Roman" pitchFamily="18" charset="0"/>
                <a:cs typeface="Times New Roman" pitchFamily="18" charset="0"/>
              </a:rPr>
              <a:t>Enhance self-learning, time management, and teamwork skills </a:t>
            </a:r>
          </a:p>
          <a:p>
            <a:pPr marL="171450" indent="-171450" algn="just">
              <a:lnSpc>
                <a:spcPct val="150000"/>
              </a:lnSpc>
              <a:buFont typeface="Wingdings" pitchFamily="2" charset="2"/>
              <a:buChar char="Ø"/>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To build a foundation for AI-based application development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70823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458200" cy="685799"/>
          </a:xfrm>
        </p:spPr>
        <p:txBody>
          <a:bodyPr>
            <a:normAutofit/>
          </a:bodyPr>
          <a:lstStyle/>
          <a:p>
            <a:r>
              <a:rPr lang="en-US" sz="3600" b="1" dirty="0" smtClean="0">
                <a:latin typeface="Times New Roman" pitchFamily="18" charset="0"/>
                <a:cs typeface="Times New Roman" pitchFamily="18" charset="0"/>
              </a:rPr>
              <a:t>Technologies Used</a:t>
            </a:r>
          </a:p>
        </p:txBody>
      </p:sp>
      <p:sp>
        <p:nvSpPr>
          <p:cNvPr id="3" name="Rectangle 2"/>
          <p:cNvSpPr/>
          <p:nvPr/>
        </p:nvSpPr>
        <p:spPr>
          <a:xfrm>
            <a:off x="304800" y="1066800"/>
            <a:ext cx="8001000" cy="3892732"/>
          </a:xfrm>
          <a:prstGeom prst="rect">
            <a:avLst/>
          </a:prstGeom>
        </p:spPr>
        <p:txBody>
          <a:bodyPr wrap="square">
            <a:spAutoFit/>
          </a:bodyPr>
          <a:lstStyle/>
          <a:p>
            <a:pPr marL="285750" indent="-285750" algn="just">
              <a:lnSpc>
                <a:spcPct val="200000"/>
              </a:lnSpc>
              <a:buFont typeface="Arial" pitchFamily="34" charset="0"/>
              <a:buChar char="•"/>
            </a:pPr>
            <a:r>
              <a:rPr lang="en-US" b="1" dirty="0" err="1" smtClean="0"/>
              <a:t>Kotlin</a:t>
            </a:r>
            <a:r>
              <a:rPr lang="en-US" dirty="0" smtClean="0"/>
              <a:t> – Programming language used for Android development </a:t>
            </a:r>
          </a:p>
          <a:p>
            <a:pPr marL="285750" indent="-285750" algn="just">
              <a:lnSpc>
                <a:spcPct val="200000"/>
              </a:lnSpc>
              <a:buFont typeface="Arial" pitchFamily="34" charset="0"/>
              <a:buChar char="•"/>
            </a:pPr>
            <a:r>
              <a:rPr lang="en-US" b="1" dirty="0" smtClean="0"/>
              <a:t>Android Studio</a:t>
            </a:r>
            <a:r>
              <a:rPr lang="en-US" dirty="0" smtClean="0"/>
              <a:t> – Main development environment used for building applications </a:t>
            </a:r>
          </a:p>
          <a:p>
            <a:pPr marL="285750" indent="-285750" algn="just">
              <a:lnSpc>
                <a:spcPct val="200000"/>
              </a:lnSpc>
              <a:buFont typeface="Arial" pitchFamily="34" charset="0"/>
              <a:buChar char="•"/>
            </a:pPr>
            <a:r>
              <a:rPr lang="en-US" b="1" dirty="0" smtClean="0"/>
              <a:t>Generative AI Tools</a:t>
            </a:r>
            <a:r>
              <a:rPr lang="en-US" dirty="0" smtClean="0"/>
              <a:t> – Used for understanding AI concepts and improving development </a:t>
            </a:r>
          </a:p>
          <a:p>
            <a:pPr marL="285750" indent="-285750" algn="just">
              <a:lnSpc>
                <a:spcPct val="200000"/>
              </a:lnSpc>
              <a:buFont typeface="Arial" pitchFamily="34" charset="0"/>
              <a:buChar char="•"/>
            </a:pPr>
            <a:r>
              <a:rPr lang="en-US" b="1" dirty="0" err="1" smtClean="0"/>
              <a:t>Salesforce</a:t>
            </a:r>
            <a:r>
              <a:rPr lang="en-US" b="1" dirty="0" smtClean="0"/>
              <a:t> Trailhead</a:t>
            </a:r>
            <a:r>
              <a:rPr lang="en-US" dirty="0" smtClean="0"/>
              <a:t> – Platform used for learning AI agents and workflows </a:t>
            </a:r>
          </a:p>
          <a:p>
            <a:pPr marL="285750" indent="-285750" algn="just">
              <a:lnSpc>
                <a:spcPct val="200000"/>
              </a:lnSpc>
              <a:buFont typeface="Arial" pitchFamily="34" charset="0"/>
              <a:buChar char="•"/>
            </a:pPr>
            <a:r>
              <a:rPr lang="en-US" b="1" dirty="0" smtClean="0"/>
              <a:t>Frontend Design</a:t>
            </a:r>
            <a:r>
              <a:rPr lang="en-US" dirty="0" smtClean="0"/>
              <a:t> – Text, background, and layout arrangement </a:t>
            </a:r>
          </a:p>
          <a:p>
            <a:pPr marL="285750" indent="-285750" algn="just">
              <a:lnSpc>
                <a:spcPct val="200000"/>
              </a:lnSpc>
              <a:buFont typeface="Arial" pitchFamily="34" charset="0"/>
              <a:buChar char="•"/>
            </a:pPr>
            <a:r>
              <a:rPr lang="en-US" b="1" dirty="0" smtClean="0"/>
              <a:t>Application Logic</a:t>
            </a:r>
            <a:r>
              <a:rPr lang="en-US" dirty="0" smtClean="0"/>
              <a:t> – Handling user interaction and functionality</a:t>
            </a:r>
            <a:endParaRPr lang="en-US" dirty="0"/>
          </a:p>
        </p:txBody>
      </p:sp>
    </p:spTree>
    <p:extLst>
      <p:ext uri="{BB962C8B-B14F-4D97-AF65-F5344CB8AC3E}">
        <p14:creationId xmlns:p14="http://schemas.microsoft.com/office/powerpoint/2010/main" val="1897656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276600"/>
            <a:ext cx="6796889" cy="762000"/>
          </a:xfrm>
        </p:spPr>
        <p:txBody>
          <a:bodyPr>
            <a:noAutofit/>
          </a:bodyPr>
          <a:lstStyle/>
          <a:p>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5" name="Rectangle 4"/>
          <p:cNvSpPr/>
          <p:nvPr/>
        </p:nvSpPr>
        <p:spPr>
          <a:xfrm>
            <a:off x="381000" y="685800"/>
            <a:ext cx="7315200" cy="2400657"/>
          </a:xfrm>
          <a:prstGeom prst="rect">
            <a:avLst/>
          </a:prstGeom>
        </p:spPr>
        <p:txBody>
          <a:bodyPr wrap="square">
            <a:spAutoFit/>
          </a:bodyPr>
          <a:lstStyle/>
          <a:p>
            <a:pPr marL="342900" indent="-342900">
              <a:lnSpc>
                <a:spcPct val="150000"/>
              </a:lnSpc>
              <a:buFont typeface="Arial" pitchFamily="34" charset="0"/>
              <a:buChar char="•"/>
            </a:pPr>
            <a:r>
              <a:rPr lang="en-US" sz="2000" b="1" dirty="0" smtClean="0">
                <a:latin typeface="Times New Roman" pitchFamily="18" charset="0"/>
                <a:cs typeface="Times New Roman" pitchFamily="18" charset="0"/>
              </a:rPr>
              <a:t>Development Environment</a:t>
            </a:r>
            <a:r>
              <a:rPr lang="en-US" sz="2000" dirty="0" smtClean="0">
                <a:latin typeface="Times New Roman" pitchFamily="18" charset="0"/>
                <a:cs typeface="Times New Roman" pitchFamily="18" charset="0"/>
              </a:rPr>
              <a:t>: Android Studio.</a:t>
            </a:r>
          </a:p>
          <a:p>
            <a:pPr marL="342900" indent="-342900">
              <a:lnSpc>
                <a:spcPct val="150000"/>
              </a:lnSpc>
              <a:buFont typeface="Arial" pitchFamily="34" charset="0"/>
              <a:buChar char="•"/>
            </a:pPr>
            <a:r>
              <a:rPr lang="en-US" sz="2000" b="1" dirty="0" smtClean="0">
                <a:latin typeface="Times New Roman" pitchFamily="18" charset="0"/>
                <a:cs typeface="Times New Roman" pitchFamily="18" charset="0"/>
              </a:rPr>
              <a:t>Programming Language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Kotlin</a:t>
            </a:r>
            <a:r>
              <a:rPr lang="en-US" sz="2000" dirty="0" smtClean="0">
                <a:latin typeface="Times New Roman" pitchFamily="18" charset="0"/>
                <a:cs typeface="Times New Roman" pitchFamily="18" charset="0"/>
              </a:rPr>
              <a:t> ,Java.</a:t>
            </a:r>
          </a:p>
          <a:p>
            <a:pPr marL="342900" indent="-342900">
              <a:lnSpc>
                <a:spcPct val="150000"/>
              </a:lnSpc>
              <a:buFont typeface="Arial" pitchFamily="34" charset="0"/>
              <a:buChar char="•"/>
            </a:pPr>
            <a:r>
              <a:rPr lang="en-US" sz="2000" b="1" dirty="0" smtClean="0">
                <a:latin typeface="Times New Roman" pitchFamily="18" charset="0"/>
                <a:cs typeface="Times New Roman" pitchFamily="18" charset="0"/>
              </a:rPr>
              <a:t>Learning Platform</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Salesforce</a:t>
            </a:r>
            <a:r>
              <a:rPr lang="en-US" sz="2000" dirty="0" smtClean="0">
                <a:latin typeface="Times New Roman" pitchFamily="18" charset="0"/>
                <a:cs typeface="Times New Roman" pitchFamily="18" charset="0"/>
              </a:rPr>
              <a:t> Trailhead .</a:t>
            </a:r>
          </a:p>
          <a:p>
            <a:pPr marL="342900" indent="-342900">
              <a:lnSpc>
                <a:spcPct val="150000"/>
              </a:lnSpc>
              <a:buFont typeface="Arial" pitchFamily="34" charset="0"/>
              <a:buChar char="•"/>
            </a:pPr>
            <a:r>
              <a:rPr lang="en-US" sz="2000" b="1" dirty="0" smtClean="0">
                <a:latin typeface="Times New Roman" pitchFamily="18" charset="0"/>
                <a:cs typeface="Times New Roman" pitchFamily="18" charset="0"/>
              </a:rPr>
              <a:t>AI Tools</a:t>
            </a:r>
            <a:r>
              <a:rPr lang="en-US" sz="2000" dirty="0" smtClean="0">
                <a:latin typeface="Times New Roman" pitchFamily="18" charset="0"/>
                <a:cs typeface="Times New Roman" pitchFamily="18" charset="0"/>
              </a:rPr>
              <a:t>: Generative AI platforms. </a:t>
            </a:r>
          </a:p>
          <a:p>
            <a:pPr marL="342900" indent="-342900">
              <a:lnSpc>
                <a:spcPct val="150000"/>
              </a:lnSpc>
              <a:buFont typeface="Arial" pitchFamily="34" charset="0"/>
              <a:buChar char="•"/>
            </a:pPr>
            <a:r>
              <a:rPr lang="en-US" sz="2000" b="1" dirty="0" smtClean="0">
                <a:latin typeface="Times New Roman" pitchFamily="18" charset="0"/>
                <a:cs typeface="Times New Roman" pitchFamily="18" charset="0"/>
              </a:rPr>
              <a:t>Device</a:t>
            </a:r>
            <a:r>
              <a:rPr lang="en-US" sz="2000" dirty="0" smtClean="0">
                <a:latin typeface="Times New Roman" pitchFamily="18" charset="0"/>
                <a:cs typeface="Times New Roman" pitchFamily="18" charset="0"/>
              </a:rPr>
              <a:t>: Android Mobile / Emulator.</a:t>
            </a:r>
            <a:endParaRPr lang="en-US" sz="2000" dirty="0">
              <a:latin typeface="Times New Roman" pitchFamily="18" charset="0"/>
              <a:cs typeface="Times New Roman" pitchFamily="18" charset="0"/>
            </a:endParaRPr>
          </a:p>
        </p:txBody>
      </p:sp>
      <p:sp>
        <p:nvSpPr>
          <p:cNvPr id="6" name="Rectangle 5"/>
          <p:cNvSpPr/>
          <p:nvPr/>
        </p:nvSpPr>
        <p:spPr>
          <a:xfrm>
            <a:off x="304800" y="3200400"/>
            <a:ext cx="8382000" cy="3416320"/>
          </a:xfrm>
          <a:prstGeom prst="rect">
            <a:avLst/>
          </a:prstGeom>
        </p:spPr>
        <p:txBody>
          <a:bodyPr wrap="square">
            <a:spAutoFit/>
          </a:bodyPr>
          <a:lstStyle/>
          <a:p>
            <a:r>
              <a:rPr lang="en-US" sz="3600" b="1" dirty="0" smtClean="0">
                <a:latin typeface="Times New Roman" pitchFamily="18" charset="0"/>
                <a:cs typeface="Times New Roman" pitchFamily="18" charset="0"/>
              </a:rPr>
              <a:t>           </a:t>
            </a:r>
            <a:r>
              <a:rPr lang="en-US" sz="3200" b="1" dirty="0" smtClean="0">
                <a:latin typeface="Times New Roman" pitchFamily="18" charset="0"/>
                <a:cs typeface="Times New Roman" pitchFamily="18" charset="0"/>
              </a:rPr>
              <a:t>INTERNSHIP WORKFLOW</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Introduction to Generative AI concepts .</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Learning </a:t>
            </a:r>
            <a:r>
              <a:rPr lang="en-US" sz="2000" dirty="0" err="1" smtClean="0">
                <a:latin typeface="Times New Roman" pitchFamily="18" charset="0"/>
                <a:cs typeface="Times New Roman" pitchFamily="18" charset="0"/>
              </a:rPr>
              <a:t>Kotlin</a:t>
            </a:r>
            <a:r>
              <a:rPr lang="en-US" sz="2000" dirty="0" smtClean="0">
                <a:latin typeface="Times New Roman" pitchFamily="18" charset="0"/>
                <a:cs typeface="Times New Roman" pitchFamily="18" charset="0"/>
              </a:rPr>
              <a:t> programming basics </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Designing User Interface (UI) </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Implementing user input and event handling </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Developing Android application features </a:t>
            </a:r>
          </a:p>
          <a:p>
            <a:pPr marL="285750" indent="-285750" algn="just">
              <a:lnSpc>
                <a:spcPct val="150000"/>
              </a:lnSpc>
              <a:buFont typeface="Arial" pitchFamily="34" charset="0"/>
              <a:buChar char="•"/>
            </a:pPr>
            <a:r>
              <a:rPr lang="en-US" sz="2000" dirty="0" smtClean="0">
                <a:latin typeface="Times New Roman" pitchFamily="18" charset="0"/>
                <a:cs typeface="Times New Roman" pitchFamily="18" charset="0"/>
              </a:rPr>
              <a:t>Planning and building a mini project (Financial </a:t>
            </a:r>
            <a:r>
              <a:rPr lang="en-US" dirty="0" smtClean="0"/>
              <a:t>Tracker App) </a:t>
            </a:r>
            <a:endParaRPr lang="en-US" dirty="0"/>
          </a:p>
        </p:txBody>
      </p:sp>
      <p:sp>
        <p:nvSpPr>
          <p:cNvPr id="7" name="Rectangle 6"/>
          <p:cNvSpPr/>
          <p:nvPr/>
        </p:nvSpPr>
        <p:spPr>
          <a:xfrm>
            <a:off x="914400" y="58155"/>
            <a:ext cx="6114107" cy="923330"/>
          </a:xfrm>
          <a:prstGeom prst="rect">
            <a:avLst/>
          </a:prstGeom>
        </p:spPr>
        <p:txBody>
          <a:bodyPr wrap="square">
            <a:spAutoFit/>
          </a:bodyPr>
          <a:lstStyle/>
          <a:p>
            <a:r>
              <a:rPr lang="en-US" sz="3600" b="1" dirty="0" smtClean="0">
                <a:latin typeface="Times New Roman" pitchFamily="18" charset="0"/>
                <a:cs typeface="Times New Roman" pitchFamily="18" charset="0"/>
              </a:rPr>
              <a:t>       TOOLS &amp; PLATFORM</a:t>
            </a: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endParaRPr lang="en-US" b="1" dirty="0"/>
          </a:p>
        </p:txBody>
      </p:sp>
    </p:spTree>
    <p:extLst>
      <p:ext uri="{BB962C8B-B14F-4D97-AF65-F5344CB8AC3E}">
        <p14:creationId xmlns:p14="http://schemas.microsoft.com/office/powerpoint/2010/main" val="42316172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IN" sz="3200" b="1" dirty="0" smtClean="0">
                <a:latin typeface="Times New Roman" pitchFamily="18" charset="0"/>
                <a:cs typeface="Times New Roman" pitchFamily="18" charset="0"/>
              </a:rPr>
              <a:t>Key Projects &amp; Deliverables</a:t>
            </a:r>
            <a:endParaRPr lang="en-US" sz="3200" b="1" dirty="0">
              <a:latin typeface="Times New Roman" pitchFamily="18" charset="0"/>
              <a:cs typeface="Times New Roman" pitchFamily="18" charset="0"/>
            </a:endParaRPr>
          </a:p>
        </p:txBody>
      </p:sp>
      <p:sp>
        <p:nvSpPr>
          <p:cNvPr id="5" name="Rectangle 4"/>
          <p:cNvSpPr/>
          <p:nvPr/>
        </p:nvSpPr>
        <p:spPr>
          <a:xfrm>
            <a:off x="156172" y="1295400"/>
            <a:ext cx="6629400" cy="2092881"/>
          </a:xfrm>
          <a:prstGeom prst="rect">
            <a:avLst/>
          </a:prstGeom>
        </p:spPr>
        <p:txBody>
          <a:bodyPr wrap="square">
            <a:spAutoFit/>
          </a:bodyPr>
          <a:lstStyle/>
          <a:p>
            <a:r>
              <a:rPr lang="en-US" sz="2000" b="1" dirty="0">
                <a:latin typeface="Times New Roman" pitchFamily="18" charset="0"/>
                <a:cs typeface="Times New Roman" pitchFamily="18" charset="0"/>
              </a:rPr>
              <a:t>Project 1 : AI Productivity </a:t>
            </a:r>
            <a:r>
              <a:rPr lang="en-US" sz="2000" b="1" dirty="0" smtClean="0">
                <a:latin typeface="Times New Roman" pitchFamily="18" charset="0"/>
                <a:cs typeface="Times New Roman" pitchFamily="18" charset="0"/>
              </a:rPr>
              <a:t>App</a:t>
            </a:r>
          </a:p>
          <a:p>
            <a:endParaRPr lang="en-US" sz="2000" b="1" dirty="0" smtClean="0">
              <a:latin typeface="Times New Roman" pitchFamily="18" charset="0"/>
              <a:cs typeface="Times New Roman" pitchFamily="18" charset="0"/>
            </a:endParaRPr>
          </a:p>
          <a:p>
            <a:pPr marL="342900" indent="-342900">
              <a:lnSpc>
                <a:spcPct val="150000"/>
              </a:lnSpc>
              <a:buFont typeface="Wingdings" pitchFamily="2" charset="2"/>
              <a:buChar char="§"/>
            </a:pPr>
            <a:r>
              <a:rPr lang="en-US" sz="2000" dirty="0" smtClean="0">
                <a:latin typeface="Times New Roman" pitchFamily="18" charset="0"/>
                <a:cs typeface="Times New Roman" pitchFamily="18" charset="0"/>
              </a:rPr>
              <a:t>Developing a smart productivity application using Android</a:t>
            </a:r>
          </a:p>
          <a:p>
            <a:pPr marL="342900" indent="-342900">
              <a:lnSpc>
                <a:spcPct val="150000"/>
              </a:lnSpc>
              <a:buFont typeface="Wingdings" pitchFamily="2" charset="2"/>
              <a:buChar char="§"/>
            </a:pPr>
            <a:r>
              <a:rPr lang="en-US" sz="2000" dirty="0" smtClean="0">
                <a:latin typeface="Times New Roman" pitchFamily="18" charset="0"/>
                <a:cs typeface="Times New Roman" pitchFamily="18" charset="0"/>
              </a:rPr>
              <a:t>Integrating Generative AI concepts for task assistance</a:t>
            </a:r>
          </a:p>
          <a:p>
            <a:pPr marL="342900" indent="-342900">
              <a:lnSpc>
                <a:spcPct val="150000"/>
              </a:lnSpc>
              <a:buFont typeface="Wingdings" pitchFamily="2" charset="2"/>
              <a:buChar char="§"/>
            </a:pPr>
            <a:r>
              <a:rPr lang="en-US" sz="2000" dirty="0" smtClean="0">
                <a:latin typeface="Times New Roman" pitchFamily="18" charset="0"/>
                <a:cs typeface="Times New Roman" pitchFamily="18" charset="0"/>
              </a:rPr>
              <a:t>Focus on improving task management and user productivity</a:t>
            </a:r>
            <a:endParaRPr lang="en-IN" sz="2000" dirty="0">
              <a:latin typeface="Times New Roman" pitchFamily="18" charset="0"/>
              <a:cs typeface="Times New Roman" pitchFamily="18" charset="0"/>
            </a:endParaRPr>
          </a:p>
        </p:txBody>
      </p:sp>
      <p:sp>
        <p:nvSpPr>
          <p:cNvPr id="6" name="Rectangle 5"/>
          <p:cNvSpPr/>
          <p:nvPr/>
        </p:nvSpPr>
        <p:spPr>
          <a:xfrm>
            <a:off x="156172" y="3505200"/>
            <a:ext cx="8073428" cy="2400657"/>
          </a:xfrm>
          <a:prstGeom prst="rect">
            <a:avLst/>
          </a:prstGeom>
        </p:spPr>
        <p:txBody>
          <a:bodyPr wrap="square">
            <a:spAutoFit/>
          </a:bodyPr>
          <a:lstStyle/>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Project </a:t>
            </a:r>
            <a:r>
              <a:rPr lang="en-US" sz="2000" b="1" dirty="0">
                <a:latin typeface="Times New Roman" pitchFamily="18" charset="0"/>
                <a:cs typeface="Times New Roman" pitchFamily="18" charset="0"/>
              </a:rPr>
              <a:t>2 : Cupcake Ordering </a:t>
            </a:r>
            <a:r>
              <a:rPr lang="en-US" sz="2000" b="1" dirty="0" smtClean="0">
                <a:latin typeface="Times New Roman" pitchFamily="18" charset="0"/>
                <a:cs typeface="Times New Roman" pitchFamily="18" charset="0"/>
              </a:rPr>
              <a:t>App</a:t>
            </a:r>
          </a:p>
          <a:p>
            <a:pPr algn="just"/>
            <a:endParaRPr lang="en-US" sz="2000" b="1" dirty="0" smtClean="0">
              <a:latin typeface="Times New Roman" pitchFamily="18" charset="0"/>
              <a:cs typeface="Times New Roman" pitchFamily="18" charset="0"/>
            </a:endParaRPr>
          </a:p>
          <a:p>
            <a:pPr marL="342900" indent="-342900" algn="just">
              <a:lnSpc>
                <a:spcPct val="150000"/>
              </a:lnSpc>
              <a:buFont typeface="Wingdings" pitchFamily="2" charset="2"/>
              <a:buChar char="§"/>
            </a:pPr>
            <a:r>
              <a:rPr lang="en-IN" sz="2000" dirty="0" smtClean="0">
                <a:latin typeface="Times New Roman" pitchFamily="18" charset="0"/>
                <a:cs typeface="Times New Roman" pitchFamily="18" charset="0"/>
              </a:rPr>
              <a:t>Built an Android app for ordering cupcakes</a:t>
            </a:r>
          </a:p>
          <a:p>
            <a:pPr marL="342900" indent="-342900" algn="just">
              <a:lnSpc>
                <a:spcPct val="150000"/>
              </a:lnSpc>
              <a:buFont typeface="Wingdings" pitchFamily="2" charset="2"/>
              <a:buChar char="§"/>
            </a:pPr>
            <a:r>
              <a:rPr lang="en-US" sz="2000" dirty="0" smtClean="0">
                <a:latin typeface="Times New Roman" pitchFamily="18" charset="0"/>
                <a:cs typeface="Times New Roman" pitchFamily="18" charset="0"/>
              </a:rPr>
              <a:t>Focused on understanding app navigation and UI flow</a:t>
            </a:r>
          </a:p>
          <a:p>
            <a:pPr marL="342900" indent="-342900" algn="just">
              <a:lnSpc>
                <a:spcPct val="150000"/>
              </a:lnSpc>
              <a:buFont typeface="Wingdings" pitchFamily="2" charset="2"/>
              <a:buChar char="§"/>
            </a:pPr>
            <a:r>
              <a:rPr lang="en-US" sz="2000" dirty="0" smtClean="0">
                <a:latin typeface="Times New Roman" pitchFamily="18" charset="0"/>
                <a:cs typeface="Times New Roman" pitchFamily="18" charset="0"/>
              </a:rPr>
              <a:t>Helped in learning Android development fundamentals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9732425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33400"/>
            <a:ext cx="8610600" cy="461665"/>
          </a:xfrm>
          <a:prstGeom prst="rect">
            <a:avLst/>
          </a:prstGeom>
        </p:spPr>
        <p:txBody>
          <a:bodyPr wrap="square">
            <a:spAutoFit/>
          </a:bodyPr>
          <a:lstStyle/>
          <a:p>
            <a:r>
              <a:rPr lang="en-US" sz="2400" b="1" dirty="0" smtClean="0">
                <a:latin typeface="Times New Roman" pitchFamily="18" charset="0"/>
                <a:cs typeface="Times New Roman" pitchFamily="18" charset="0"/>
              </a:rPr>
              <a:t>PROJECT 3 : BIOSAGE HEALTH AI</a:t>
            </a:r>
          </a:p>
        </p:txBody>
      </p:sp>
      <p:sp>
        <p:nvSpPr>
          <p:cNvPr id="3" name="Rectangle 2"/>
          <p:cNvSpPr/>
          <p:nvPr/>
        </p:nvSpPr>
        <p:spPr>
          <a:xfrm>
            <a:off x="152400" y="1149790"/>
            <a:ext cx="8686800" cy="5262979"/>
          </a:xfrm>
          <a:prstGeom prst="rect">
            <a:avLst/>
          </a:prstGeom>
        </p:spPr>
        <p:txBody>
          <a:bodyPr wrap="square">
            <a:spAutoFit/>
          </a:bodyPr>
          <a:lstStyle/>
          <a:p>
            <a:pPr algn="just"/>
            <a:r>
              <a:rPr lang="en-US" sz="2400" b="1" dirty="0" err="1">
                <a:latin typeface="Times New Roman" pitchFamily="18" charset="0"/>
                <a:cs typeface="Times New Roman" pitchFamily="18" charset="0"/>
              </a:rPr>
              <a:t>BioSage</a:t>
            </a:r>
            <a:r>
              <a:rPr lang="en-US" sz="2400" b="1" dirty="0">
                <a:latin typeface="Times New Roman" pitchFamily="18" charset="0"/>
                <a:cs typeface="Times New Roman" pitchFamily="18" charset="0"/>
              </a:rPr>
              <a:t> Health </a:t>
            </a:r>
            <a:r>
              <a:rPr lang="en-US" sz="2400" b="1" dirty="0" smtClean="0">
                <a:latin typeface="Times New Roman" pitchFamily="18" charset="0"/>
                <a:cs typeface="Times New Roman" pitchFamily="18" charset="0"/>
              </a:rPr>
              <a:t>AI</a:t>
            </a:r>
          </a:p>
          <a:p>
            <a:pPr algn="just"/>
            <a:r>
              <a:rPr lang="en-US" sz="2400" dirty="0" smtClean="0">
                <a:latin typeface="Times New Roman" pitchFamily="18" charset="0"/>
                <a:cs typeface="Times New Roman" pitchFamily="18" charset="0"/>
              </a:rPr>
              <a:t>AI-Based </a:t>
            </a:r>
            <a:r>
              <a:rPr lang="en-US" sz="2400" dirty="0">
                <a:latin typeface="Times New Roman" pitchFamily="18" charset="0"/>
                <a:cs typeface="Times New Roman" pitchFamily="18" charset="0"/>
              </a:rPr>
              <a:t>Healthcare Assistant </a:t>
            </a:r>
            <a:r>
              <a:rPr lang="en-US" sz="2400" dirty="0" err="1">
                <a:latin typeface="Times New Roman" pitchFamily="18" charset="0"/>
                <a:cs typeface="Times New Roman" pitchFamily="18" charset="0"/>
              </a:rPr>
              <a:t>ApplicationIntroductionBioSage</a:t>
            </a:r>
            <a:r>
              <a:rPr lang="en-US" sz="2400" dirty="0">
                <a:latin typeface="Times New Roman" pitchFamily="18" charset="0"/>
                <a:cs typeface="Times New Roman" pitchFamily="18" charset="0"/>
              </a:rPr>
              <a:t> Health AI is an Android healthcare application prototype developed using </a:t>
            </a:r>
            <a:r>
              <a:rPr lang="en-US" sz="2400" dirty="0" err="1">
                <a:latin typeface="Times New Roman" pitchFamily="18" charset="0"/>
                <a:cs typeface="Times New Roman" pitchFamily="18" charset="0"/>
              </a:rPr>
              <a:t>Kotlin</a:t>
            </a:r>
            <a:r>
              <a:rPr lang="en-US" sz="2400" dirty="0">
                <a:latin typeface="Times New Roman" pitchFamily="18" charset="0"/>
                <a:cs typeface="Times New Roman" pitchFamily="18" charset="0"/>
              </a:rPr>
              <a:t> and Android Studio. The application is designed to provide a simple and user-friendly AI-assisted healthcare </a:t>
            </a:r>
            <a:r>
              <a:rPr lang="en-US" sz="2400" dirty="0" smtClean="0">
                <a:latin typeface="Times New Roman" pitchFamily="18" charset="0"/>
                <a:cs typeface="Times New Roman" pitchFamily="18" charset="0"/>
              </a:rPr>
              <a:t>interface.</a:t>
            </a:r>
          </a:p>
          <a:p>
            <a:pPr algn="just"/>
            <a:r>
              <a:rPr lang="en-US" sz="2400" b="1" dirty="0" smtClean="0">
                <a:latin typeface="Times New Roman" pitchFamily="18" charset="0"/>
                <a:cs typeface="Times New Roman" pitchFamily="18" charset="0"/>
              </a:rPr>
              <a:t>Objectives:</a:t>
            </a:r>
          </a:p>
          <a:p>
            <a:pPr marL="342900" indent="-342900" algn="just">
              <a:buFont typeface="Wingdings" pitchFamily="2" charset="2"/>
              <a:buChar char="q"/>
            </a:pPr>
            <a:r>
              <a:rPr lang="en-US" sz="2400" dirty="0" smtClean="0">
                <a:latin typeface="Times New Roman" pitchFamily="18" charset="0"/>
                <a:cs typeface="Times New Roman" pitchFamily="18" charset="0"/>
              </a:rPr>
              <a:t>To </a:t>
            </a:r>
            <a:r>
              <a:rPr lang="en-US" sz="2400" dirty="0">
                <a:latin typeface="Times New Roman" pitchFamily="18" charset="0"/>
                <a:cs typeface="Times New Roman" pitchFamily="18" charset="0"/>
              </a:rPr>
              <a:t>develop a beginner-level healthcare Android </a:t>
            </a:r>
            <a:r>
              <a:rPr lang="en-US" sz="2400" dirty="0" smtClean="0">
                <a:latin typeface="Times New Roman" pitchFamily="18" charset="0"/>
                <a:cs typeface="Times New Roman" pitchFamily="18" charset="0"/>
              </a:rPr>
              <a:t>application</a:t>
            </a:r>
          </a:p>
          <a:p>
            <a:pPr marL="342900" indent="-342900" algn="just">
              <a:buFont typeface="Wingdings" pitchFamily="2" charset="2"/>
              <a:buChar char="q"/>
            </a:pPr>
            <a:r>
              <a:rPr lang="en-US" sz="2400" dirty="0" smtClean="0">
                <a:latin typeface="Times New Roman" pitchFamily="18" charset="0"/>
                <a:cs typeface="Times New Roman" pitchFamily="18" charset="0"/>
              </a:rPr>
              <a:t>To </a:t>
            </a:r>
            <a:r>
              <a:rPr lang="en-US" sz="2400" dirty="0">
                <a:latin typeface="Times New Roman" pitchFamily="18" charset="0"/>
                <a:cs typeface="Times New Roman" pitchFamily="18" charset="0"/>
              </a:rPr>
              <a:t>understand Android app development using </a:t>
            </a:r>
            <a:r>
              <a:rPr lang="en-US" sz="2400" dirty="0" err="1" smtClean="0">
                <a:latin typeface="Times New Roman" pitchFamily="18" charset="0"/>
                <a:cs typeface="Times New Roman" pitchFamily="18" charset="0"/>
              </a:rPr>
              <a:t>Kotlin</a:t>
            </a:r>
            <a:endParaRPr lang="en-US" sz="2400" dirty="0" smtClean="0">
              <a:latin typeface="Times New Roman" pitchFamily="18" charset="0"/>
              <a:cs typeface="Times New Roman" pitchFamily="18" charset="0"/>
            </a:endParaRPr>
          </a:p>
          <a:p>
            <a:pPr marL="342900" indent="-342900" algn="just">
              <a:buFont typeface="Wingdings" pitchFamily="2" charset="2"/>
              <a:buChar char="q"/>
            </a:pPr>
            <a:r>
              <a:rPr lang="en-US" sz="2400" dirty="0" smtClean="0">
                <a:latin typeface="Times New Roman" pitchFamily="18" charset="0"/>
                <a:cs typeface="Times New Roman" pitchFamily="18" charset="0"/>
              </a:rPr>
              <a:t>To </a:t>
            </a:r>
            <a:r>
              <a:rPr lang="en-US" sz="2400" dirty="0">
                <a:latin typeface="Times New Roman" pitchFamily="18" charset="0"/>
                <a:cs typeface="Times New Roman" pitchFamily="18" charset="0"/>
              </a:rPr>
              <a:t>create a foundation for future AI-healthcare </a:t>
            </a:r>
            <a:r>
              <a:rPr lang="en-US" sz="2400" dirty="0" smtClean="0">
                <a:latin typeface="Times New Roman" pitchFamily="18" charset="0"/>
                <a:cs typeface="Times New Roman" pitchFamily="18" charset="0"/>
              </a:rPr>
              <a:t>integration</a:t>
            </a:r>
          </a:p>
          <a:p>
            <a:pPr algn="just"/>
            <a:r>
              <a:rPr lang="en-US" sz="2400" b="1" dirty="0" smtClean="0">
                <a:latin typeface="Times New Roman" pitchFamily="18" charset="0"/>
                <a:cs typeface="Times New Roman" pitchFamily="18" charset="0"/>
              </a:rPr>
              <a:t>Technologies Used</a:t>
            </a:r>
          </a:p>
          <a:p>
            <a:pPr marL="342900" indent="-342900" algn="just">
              <a:buFont typeface="Wingdings" pitchFamily="2" charset="2"/>
              <a:buChar char="§"/>
            </a:pPr>
            <a:r>
              <a:rPr lang="en-US" sz="2400" dirty="0" err="1" smtClean="0">
                <a:latin typeface="Times New Roman" pitchFamily="18" charset="0"/>
                <a:cs typeface="Times New Roman" pitchFamily="18" charset="0"/>
              </a:rPr>
              <a:t>Kotlin</a:t>
            </a:r>
            <a:endParaRPr lang="en-US" sz="2400" dirty="0" smtClean="0">
              <a:latin typeface="Times New Roman" pitchFamily="18" charset="0"/>
              <a:cs typeface="Times New Roman" pitchFamily="18" charset="0"/>
            </a:endParaRPr>
          </a:p>
          <a:p>
            <a:pPr marL="342900" indent="-342900" algn="just">
              <a:buFont typeface="Wingdings" pitchFamily="2" charset="2"/>
              <a:buChar char="§"/>
            </a:pPr>
            <a:r>
              <a:rPr lang="en-US" sz="2400" dirty="0" smtClean="0">
                <a:latin typeface="Times New Roman" pitchFamily="18" charset="0"/>
                <a:cs typeface="Times New Roman" pitchFamily="18" charset="0"/>
              </a:rPr>
              <a:t>Android Studio</a:t>
            </a:r>
          </a:p>
          <a:p>
            <a:pPr marL="342900" indent="-342900" algn="just">
              <a:buFont typeface="Wingdings" pitchFamily="2" charset="2"/>
              <a:buChar char="§"/>
            </a:pPr>
            <a:r>
              <a:rPr lang="en-US" sz="2400" dirty="0" smtClean="0">
                <a:latin typeface="Times New Roman" pitchFamily="18" charset="0"/>
                <a:cs typeface="Times New Roman" pitchFamily="18" charset="0"/>
              </a:rPr>
              <a:t>XML</a:t>
            </a:r>
          </a:p>
          <a:p>
            <a:pPr marL="342900" indent="-342900" algn="just">
              <a:buFont typeface="Wingdings" pitchFamily="2" charset="2"/>
              <a:buChar char="§"/>
            </a:pPr>
            <a:r>
              <a:rPr lang="en-US" sz="2400" dirty="0" smtClean="0">
                <a:latin typeface="Times New Roman" pitchFamily="18" charset="0"/>
                <a:cs typeface="Times New Roman" pitchFamily="18" charset="0"/>
              </a:rPr>
              <a:t>Android </a:t>
            </a:r>
          </a:p>
        </p:txBody>
      </p:sp>
    </p:spTree>
    <p:extLst>
      <p:ext uri="{BB962C8B-B14F-4D97-AF65-F5344CB8AC3E}">
        <p14:creationId xmlns:p14="http://schemas.microsoft.com/office/powerpoint/2010/main" val="3873944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85800"/>
            <a:ext cx="6248400" cy="5262979"/>
          </a:xfrm>
          <a:prstGeom prst="rect">
            <a:avLst/>
          </a:prstGeom>
        </p:spPr>
        <p:txBody>
          <a:bodyPr wrap="square">
            <a:spAutoFit/>
          </a:bodyPr>
          <a:lstStyle/>
          <a:p>
            <a:pPr algn="just"/>
            <a:r>
              <a:rPr lang="en-US" sz="2400" b="1" dirty="0">
                <a:latin typeface="Times New Roman" pitchFamily="18" charset="0"/>
                <a:cs typeface="Times New Roman" pitchFamily="18" charset="0"/>
              </a:rPr>
              <a:t>Novelty of the </a:t>
            </a:r>
            <a:r>
              <a:rPr lang="en-US" sz="2400" b="1" dirty="0" smtClean="0">
                <a:latin typeface="Times New Roman" pitchFamily="18" charset="0"/>
                <a:cs typeface="Times New Roman" pitchFamily="18" charset="0"/>
              </a:rPr>
              <a:t>Project</a:t>
            </a:r>
          </a:p>
          <a:p>
            <a:pPr marL="342900" indent="-342900" algn="just">
              <a:buFont typeface="Wingdings" pitchFamily="2" charset="2"/>
              <a:buChar char="Ø"/>
            </a:pPr>
            <a:r>
              <a:rPr lang="en-US" sz="2400" dirty="0" smtClean="0">
                <a:latin typeface="Times New Roman" pitchFamily="18" charset="0"/>
                <a:cs typeface="Times New Roman" pitchFamily="18" charset="0"/>
              </a:rPr>
              <a:t>Combines </a:t>
            </a:r>
            <a:r>
              <a:rPr lang="en-US" sz="2400" dirty="0">
                <a:latin typeface="Times New Roman" pitchFamily="18" charset="0"/>
                <a:cs typeface="Times New Roman" pitchFamily="18" charset="0"/>
              </a:rPr>
              <a:t>healthcare concepts with AI </a:t>
            </a:r>
            <a:r>
              <a:rPr lang="en-US" sz="2400" dirty="0" smtClean="0">
                <a:latin typeface="Times New Roman" pitchFamily="18" charset="0"/>
                <a:cs typeface="Times New Roman" pitchFamily="18" charset="0"/>
              </a:rPr>
              <a:t>technology</a:t>
            </a:r>
          </a:p>
          <a:p>
            <a:pPr marL="342900" indent="-342900" algn="just">
              <a:buFont typeface="Wingdings" pitchFamily="2" charset="2"/>
              <a:buChar char="Ø"/>
            </a:pPr>
            <a:r>
              <a:rPr lang="en-US" sz="2400" dirty="0" smtClean="0">
                <a:latin typeface="Times New Roman" pitchFamily="18" charset="0"/>
                <a:cs typeface="Times New Roman" pitchFamily="18" charset="0"/>
              </a:rPr>
              <a:t>Simple </a:t>
            </a:r>
            <a:r>
              <a:rPr lang="en-US" sz="2400" dirty="0">
                <a:latin typeface="Times New Roman" pitchFamily="18" charset="0"/>
                <a:cs typeface="Times New Roman" pitchFamily="18" charset="0"/>
              </a:rPr>
              <a:t>and beginner-friendly healthcare </a:t>
            </a:r>
            <a:r>
              <a:rPr lang="en-US" sz="2400" dirty="0" smtClean="0">
                <a:latin typeface="Times New Roman" pitchFamily="18" charset="0"/>
                <a:cs typeface="Times New Roman" pitchFamily="18" charset="0"/>
              </a:rPr>
              <a:t>interface</a:t>
            </a:r>
          </a:p>
          <a:p>
            <a:pPr marL="342900" indent="-342900" algn="just">
              <a:buFont typeface="Wingdings" pitchFamily="2" charset="2"/>
              <a:buChar char="Ø"/>
            </a:pPr>
            <a:r>
              <a:rPr lang="en-US" sz="2400" dirty="0" smtClean="0">
                <a:latin typeface="Times New Roman" pitchFamily="18" charset="0"/>
                <a:cs typeface="Times New Roman" pitchFamily="18" charset="0"/>
              </a:rPr>
              <a:t>Future </a:t>
            </a:r>
            <a:r>
              <a:rPr lang="en-US" sz="2400" dirty="0">
                <a:latin typeface="Times New Roman" pitchFamily="18" charset="0"/>
                <a:cs typeface="Times New Roman" pitchFamily="18" charset="0"/>
              </a:rPr>
              <a:t>scope for biotechnology and bioinformatics </a:t>
            </a:r>
            <a:r>
              <a:rPr lang="en-US" sz="2400" dirty="0" smtClean="0">
                <a:latin typeface="Times New Roman" pitchFamily="18" charset="0"/>
                <a:cs typeface="Times New Roman" pitchFamily="18" charset="0"/>
              </a:rPr>
              <a:t>integration</a:t>
            </a:r>
          </a:p>
          <a:p>
            <a:pPr algn="just"/>
            <a:r>
              <a:rPr lang="en-US" sz="2400" b="1" dirty="0" smtClean="0">
                <a:latin typeface="Times New Roman" pitchFamily="18" charset="0"/>
                <a:cs typeface="Times New Roman" pitchFamily="18" charset="0"/>
              </a:rPr>
              <a:t>Future Enhancements</a:t>
            </a:r>
          </a:p>
          <a:p>
            <a:pPr marL="342900" indent="-342900" algn="just">
              <a:buFont typeface="Arial" pitchFamily="34" charset="0"/>
              <a:buChar char="•"/>
            </a:pPr>
            <a:r>
              <a:rPr lang="en-US" sz="2400" dirty="0" smtClean="0">
                <a:latin typeface="Times New Roman" pitchFamily="18" charset="0"/>
                <a:cs typeface="Times New Roman" pitchFamily="18" charset="0"/>
              </a:rPr>
              <a:t>AI </a:t>
            </a:r>
            <a:r>
              <a:rPr lang="en-US" sz="2400" dirty="0" err="1" smtClean="0">
                <a:latin typeface="Times New Roman" pitchFamily="18" charset="0"/>
                <a:cs typeface="Times New Roman" pitchFamily="18" charset="0"/>
              </a:rPr>
              <a:t>chatbot</a:t>
            </a:r>
            <a:endParaRPr lang="en-US" sz="2400" dirty="0" smtClean="0">
              <a:latin typeface="Times New Roman" pitchFamily="18" charset="0"/>
              <a:cs typeface="Times New Roman" pitchFamily="18" charset="0"/>
            </a:endParaRPr>
          </a:p>
          <a:p>
            <a:pPr marL="342900" indent="-342900" algn="just">
              <a:buFont typeface="Arial" pitchFamily="34" charset="0"/>
              <a:buChar char="•"/>
            </a:pPr>
            <a:r>
              <a:rPr lang="en-US" sz="2400" dirty="0" smtClean="0">
                <a:latin typeface="Times New Roman" pitchFamily="18" charset="0"/>
                <a:cs typeface="Times New Roman" pitchFamily="18" charset="0"/>
              </a:rPr>
              <a:t>Symptom analysis</a:t>
            </a:r>
          </a:p>
          <a:p>
            <a:pPr marL="342900" indent="-342900" algn="just">
              <a:buFont typeface="Arial" pitchFamily="34" charset="0"/>
              <a:buChar char="•"/>
            </a:pPr>
            <a:r>
              <a:rPr lang="en-US" sz="2400" dirty="0" smtClean="0">
                <a:latin typeface="Times New Roman" pitchFamily="18" charset="0"/>
                <a:cs typeface="Times New Roman" pitchFamily="18" charset="0"/>
              </a:rPr>
              <a:t>Personalized </a:t>
            </a:r>
            <a:r>
              <a:rPr lang="en-US" sz="2400" dirty="0">
                <a:latin typeface="Times New Roman" pitchFamily="18" charset="0"/>
                <a:cs typeface="Times New Roman" pitchFamily="18" charset="0"/>
              </a:rPr>
              <a:t>healthcare </a:t>
            </a:r>
            <a:r>
              <a:rPr lang="en-US" sz="2400" dirty="0" smtClean="0">
                <a:latin typeface="Times New Roman" pitchFamily="18" charset="0"/>
                <a:cs typeface="Times New Roman" pitchFamily="18" charset="0"/>
              </a:rPr>
              <a:t>suggestions</a:t>
            </a:r>
          </a:p>
          <a:p>
            <a:pPr marL="342900" indent="-342900" algn="just">
              <a:buFont typeface="Arial" pitchFamily="34" charset="0"/>
              <a:buChar char="•"/>
            </a:pPr>
            <a:r>
              <a:rPr lang="en-US" sz="2400" dirty="0" smtClean="0">
                <a:latin typeface="Times New Roman" pitchFamily="18" charset="0"/>
                <a:cs typeface="Times New Roman" pitchFamily="18" charset="0"/>
              </a:rPr>
              <a:t>Immunology </a:t>
            </a:r>
            <a:r>
              <a:rPr lang="en-US" sz="2400" dirty="0">
                <a:latin typeface="Times New Roman" pitchFamily="18" charset="0"/>
                <a:cs typeface="Times New Roman" pitchFamily="18" charset="0"/>
              </a:rPr>
              <a:t>and genomics </a:t>
            </a:r>
            <a:r>
              <a:rPr lang="en-US" sz="2400" dirty="0" smtClean="0">
                <a:latin typeface="Times New Roman" pitchFamily="18" charset="0"/>
                <a:cs typeface="Times New Roman" pitchFamily="18" charset="0"/>
              </a:rPr>
              <a:t>integration</a:t>
            </a:r>
          </a:p>
          <a:p>
            <a:pPr marL="342900" indent="-342900" algn="just">
              <a:buFont typeface="Arial" pitchFamily="34" charset="0"/>
              <a:buChar char="•"/>
            </a:pPr>
            <a:r>
              <a:rPr lang="en-US" sz="2400" dirty="0" smtClean="0">
                <a:latin typeface="Times New Roman" pitchFamily="18" charset="0"/>
                <a:cs typeface="Times New Roman" pitchFamily="18" charset="0"/>
              </a:rPr>
              <a:t>Database connectivity</a:t>
            </a:r>
          </a:p>
          <a:p>
            <a:pPr marL="342900" indent="-342900" algn="just">
              <a:buFont typeface="Arial" pitchFamily="34" charset="0"/>
              <a:buChar char="•"/>
            </a:pPr>
            <a:r>
              <a:rPr lang="en-US" sz="2400" dirty="0" smtClean="0">
                <a:latin typeface="Times New Roman" pitchFamily="18" charset="0"/>
                <a:cs typeface="Times New Roman" pitchFamily="18" charset="0"/>
              </a:rPr>
              <a:t>Cloud-based </a:t>
            </a:r>
            <a:r>
              <a:rPr lang="en-US" sz="2400" dirty="0">
                <a:latin typeface="Times New Roman" pitchFamily="18" charset="0"/>
                <a:cs typeface="Times New Roman" pitchFamily="18" charset="0"/>
              </a:rPr>
              <a:t>healthcare monitoring</a:t>
            </a:r>
          </a:p>
        </p:txBody>
      </p:sp>
    </p:spTree>
    <p:extLst>
      <p:ext uri="{BB962C8B-B14F-4D97-AF65-F5344CB8AC3E}">
        <p14:creationId xmlns:p14="http://schemas.microsoft.com/office/powerpoint/2010/main" val="862734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71" y="-76200"/>
            <a:ext cx="4712329" cy="3124200"/>
          </a:xfrm>
          <a:prstGeom prst="rect">
            <a:avLst/>
          </a:prstGeom>
        </p:spPr>
      </p:pic>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l="12079" t="8520"/>
          <a:stretch/>
        </p:blipFill>
        <p:spPr>
          <a:xfrm>
            <a:off x="5029200" y="228600"/>
            <a:ext cx="3886199" cy="2667000"/>
          </a:xfrm>
          <a:prstGeom prst="rect">
            <a:avLst/>
          </a:prstGeom>
        </p:spPr>
      </p:pic>
      <p:sp>
        <p:nvSpPr>
          <p:cNvPr id="14" name="TextBox 13"/>
          <p:cNvSpPr txBox="1"/>
          <p:nvPr/>
        </p:nvSpPr>
        <p:spPr>
          <a:xfrm>
            <a:off x="762000" y="6000939"/>
            <a:ext cx="8153399" cy="646331"/>
          </a:xfrm>
          <a:prstGeom prst="rect">
            <a:avLst/>
          </a:prstGeom>
          <a:noFill/>
        </p:spPr>
        <p:txBody>
          <a:bodyPr wrap="square" rtlCol="0">
            <a:spAutoFit/>
          </a:bodyPr>
          <a:lstStyle/>
          <a:p>
            <a:r>
              <a:rPr lang="en-US" dirty="0"/>
              <a:t>Fig </a:t>
            </a:r>
            <a:r>
              <a:rPr lang="en-US" dirty="0" smtClean="0"/>
              <a:t>1: </a:t>
            </a:r>
            <a:r>
              <a:rPr lang="en-US" dirty="0"/>
              <a:t>Android Studio Interface Showing UI Design and Build Execution of </a:t>
            </a:r>
            <a:r>
              <a:rPr lang="en-US" dirty="0" err="1"/>
              <a:t>BioSage</a:t>
            </a:r>
            <a:r>
              <a:rPr lang="en-US" dirty="0"/>
              <a:t> Health AI</a:t>
            </a:r>
          </a:p>
        </p:txBody>
      </p:sp>
      <p:pic>
        <p:nvPicPr>
          <p:cNvPr id="17" name="Picture 16"/>
          <p:cNvPicPr>
            <a:picLocks noChangeAspect="1"/>
          </p:cNvPicPr>
          <p:nvPr/>
        </p:nvPicPr>
        <p:blipFill rotWithShape="1">
          <a:blip r:embed="rId4">
            <a:extLst>
              <a:ext uri="{28A0092B-C50C-407E-A947-70E740481C1C}">
                <a14:useLocalDpi xmlns:a14="http://schemas.microsoft.com/office/drawing/2010/main" val="0"/>
              </a:ext>
            </a:extLst>
          </a:blip>
          <a:srcRect l="-15380" t="-138284" r="17971" b="-48110"/>
          <a:stretch/>
        </p:blipFill>
        <p:spPr>
          <a:xfrm>
            <a:off x="0" y="0"/>
            <a:ext cx="7912729" cy="6858000"/>
          </a:xfrm>
          <a:prstGeom prst="rect">
            <a:avLst/>
          </a:prstGeom>
        </p:spPr>
      </p:pic>
    </p:spTree>
    <p:extLst>
      <p:ext uri="{BB962C8B-B14F-4D97-AF65-F5344CB8AC3E}">
        <p14:creationId xmlns:p14="http://schemas.microsoft.com/office/powerpoint/2010/main" val="30443926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304800"/>
            <a:ext cx="7086600" cy="4724400"/>
          </a:xfrm>
          <a:prstGeom prst="rect">
            <a:avLst/>
          </a:prstGeom>
        </p:spPr>
      </p:pic>
      <p:sp>
        <p:nvSpPr>
          <p:cNvPr id="3" name="TextBox 2"/>
          <p:cNvSpPr txBox="1"/>
          <p:nvPr/>
        </p:nvSpPr>
        <p:spPr>
          <a:xfrm>
            <a:off x="381000" y="5867400"/>
            <a:ext cx="7848600" cy="369332"/>
          </a:xfrm>
          <a:prstGeom prst="rect">
            <a:avLst/>
          </a:prstGeom>
          <a:noFill/>
        </p:spPr>
        <p:txBody>
          <a:bodyPr wrap="square" rtlCol="0">
            <a:spAutoFit/>
          </a:bodyPr>
          <a:lstStyle/>
          <a:p>
            <a:r>
              <a:rPr lang="en-US" dirty="0"/>
              <a:t>Fig 2:BioSage Health AI Android App </a:t>
            </a:r>
            <a:r>
              <a:rPr lang="en-US" dirty="0" smtClean="0"/>
              <a:t>Development  </a:t>
            </a:r>
            <a:endParaRPr lang="en-US" dirty="0"/>
          </a:p>
        </p:txBody>
      </p:sp>
    </p:spTree>
    <p:extLst>
      <p:ext uri="{BB962C8B-B14F-4D97-AF65-F5344CB8AC3E}">
        <p14:creationId xmlns:p14="http://schemas.microsoft.com/office/powerpoint/2010/main" val="7087916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1"/>
            <a:ext cx="8382000" cy="400110"/>
          </a:xfrm>
          <a:prstGeom prst="rect">
            <a:avLst/>
          </a:prstGeom>
        </p:spPr>
        <p:txBody>
          <a:bodyPr wrap="square">
            <a:spAutoFit/>
          </a:bodyPr>
          <a:lstStyle/>
          <a:p>
            <a:r>
              <a:rPr lang="en-US" sz="2000" b="1" dirty="0">
                <a:latin typeface="Times New Roman" pitchFamily="18" charset="0"/>
                <a:cs typeface="Times New Roman" pitchFamily="18" charset="0"/>
              </a:rPr>
              <a:t>Android App Development using </a:t>
            </a:r>
            <a:r>
              <a:rPr lang="en-US" sz="2000" b="1" dirty="0" err="1">
                <a:latin typeface="Times New Roman" pitchFamily="18" charset="0"/>
                <a:cs typeface="Times New Roman" pitchFamily="18" charset="0"/>
              </a:rPr>
              <a:t>GenAI</a:t>
            </a:r>
            <a:r>
              <a:rPr lang="en-US" sz="2000" b="1" dirty="0">
                <a:latin typeface="Times New Roman" pitchFamily="18" charset="0"/>
                <a:cs typeface="Times New Roman" pitchFamily="18" charset="0"/>
              </a:rPr>
              <a:t> – </a:t>
            </a:r>
            <a:r>
              <a:rPr lang="en-US" sz="2000" b="1" dirty="0" err="1">
                <a:latin typeface="Times New Roman" pitchFamily="18" charset="0"/>
                <a:cs typeface="Times New Roman" pitchFamily="18" charset="0"/>
              </a:rPr>
              <a:t>Siri-Dhanya</a:t>
            </a:r>
            <a:r>
              <a:rPr lang="en-US" sz="2000" b="1" dirty="0">
                <a:latin typeface="Times New Roman" pitchFamily="18" charset="0"/>
                <a:cs typeface="Times New Roman" pitchFamily="18" charset="0"/>
              </a:rPr>
              <a:t> Hub (</a:t>
            </a:r>
            <a:r>
              <a:rPr lang="en-US" sz="2000" b="1" dirty="0" smtClean="0">
                <a:latin typeface="Times New Roman" pitchFamily="18" charset="0"/>
                <a:cs typeface="Times New Roman" pitchFamily="18" charset="0"/>
              </a:rPr>
              <a:t>Agriculture)</a:t>
            </a:r>
            <a:endParaRPr lang="en-US" sz="2000" b="1" dirty="0">
              <a:latin typeface="Times New Roman" pitchFamily="18" charset="0"/>
              <a:cs typeface="Times New Roman" pitchFamily="18" charset="0"/>
            </a:endParaRPr>
          </a:p>
        </p:txBody>
      </p:sp>
      <p:sp>
        <p:nvSpPr>
          <p:cNvPr id="3" name="Rectangle 2"/>
          <p:cNvSpPr/>
          <p:nvPr/>
        </p:nvSpPr>
        <p:spPr>
          <a:xfrm>
            <a:off x="304800" y="838200"/>
            <a:ext cx="8610600" cy="5355312"/>
          </a:xfrm>
          <a:prstGeom prst="rect">
            <a:avLst/>
          </a:prstGeom>
        </p:spPr>
        <p:txBody>
          <a:bodyPr wrap="square">
            <a:spAutoFit/>
          </a:bodyPr>
          <a:lstStyle/>
          <a:p>
            <a:r>
              <a:rPr lang="en-US" dirty="0" smtClean="0"/>
              <a:t> </a:t>
            </a:r>
            <a:r>
              <a:rPr lang="en-US" b="1" dirty="0">
                <a:latin typeface="Times New Roman" pitchFamily="18" charset="0"/>
                <a:cs typeface="Times New Roman" pitchFamily="18" charset="0"/>
              </a:rPr>
              <a:t>Introduction </a:t>
            </a:r>
            <a:endParaRPr lang="en-US" b="1"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Android </a:t>
            </a:r>
            <a:r>
              <a:rPr lang="en-US" dirty="0">
                <a:latin typeface="Times New Roman" pitchFamily="18" charset="0"/>
                <a:cs typeface="Times New Roman" pitchFamily="18" charset="0"/>
              </a:rPr>
              <a:t>App Development using </a:t>
            </a:r>
            <a:r>
              <a:rPr lang="en-US" dirty="0" err="1">
                <a:latin typeface="Times New Roman" pitchFamily="18" charset="0"/>
                <a:cs typeface="Times New Roman" pitchFamily="18" charset="0"/>
              </a:rPr>
              <a:t>GenAI</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Siri-Dhanya</a:t>
            </a:r>
            <a:r>
              <a:rPr lang="en-US" dirty="0">
                <a:latin typeface="Times New Roman" pitchFamily="18" charset="0"/>
                <a:cs typeface="Times New Roman" pitchFamily="18" charset="0"/>
              </a:rPr>
              <a:t> Hub (Agriculture</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Problem Statement</a:t>
            </a:r>
          </a:p>
          <a:p>
            <a:pPr marL="285750" indent="-285750">
              <a:buFont typeface="Arial" pitchFamily="34" charset="0"/>
              <a:buChar char="•"/>
            </a:pPr>
            <a:r>
              <a:rPr lang="en-US" dirty="0" smtClean="0">
                <a:latin typeface="Times New Roman" pitchFamily="18" charset="0"/>
                <a:cs typeface="Times New Roman" pitchFamily="18" charset="0"/>
              </a:rPr>
              <a:t>Karnataka </a:t>
            </a:r>
            <a:r>
              <a:rPr lang="en-US" dirty="0">
                <a:latin typeface="Times New Roman" pitchFamily="18" charset="0"/>
                <a:cs typeface="Times New Roman" pitchFamily="18" charset="0"/>
              </a:rPr>
              <a:t>is a major producer of millets (</a:t>
            </a:r>
            <a:r>
              <a:rPr lang="en-US" dirty="0" err="1">
                <a:latin typeface="Times New Roman" pitchFamily="18" charset="0"/>
                <a:cs typeface="Times New Roman" pitchFamily="18" charset="0"/>
              </a:rPr>
              <a:t>Siri-Dhanya</a:t>
            </a:r>
            <a:r>
              <a:rPr lang="en-US" dirty="0" smtClean="0">
                <a:latin typeface="Times New Roman" pitchFamily="18" charset="0"/>
                <a:cs typeface="Times New Roman" pitchFamily="18" charset="0"/>
              </a:rPr>
              <a:t>).</a:t>
            </a:r>
          </a:p>
          <a:p>
            <a:pPr marL="285750" indent="-285750">
              <a:buFont typeface="Arial" pitchFamily="34" charset="0"/>
              <a:buChar char="•"/>
            </a:pPr>
            <a:r>
              <a:rPr lang="en-US" dirty="0" smtClean="0">
                <a:latin typeface="Times New Roman" pitchFamily="18" charset="0"/>
                <a:cs typeface="Times New Roman" pitchFamily="18" charset="0"/>
              </a:rPr>
              <a:t>Farmers </a:t>
            </a:r>
            <a:r>
              <a:rPr lang="en-US" dirty="0">
                <a:latin typeface="Times New Roman" pitchFamily="18" charset="0"/>
                <a:cs typeface="Times New Roman" pitchFamily="18" charset="0"/>
              </a:rPr>
              <a:t>do not know current market prices in different cities</a:t>
            </a:r>
            <a:r>
              <a:rPr lang="en-US" dirty="0" smtClean="0">
                <a:latin typeface="Times New Roman" pitchFamily="18" charset="0"/>
                <a:cs typeface="Times New Roman" pitchFamily="18" charset="0"/>
              </a:rPr>
              <a:t>.</a:t>
            </a:r>
          </a:p>
          <a:p>
            <a:pPr marL="285750" indent="-285750">
              <a:buFont typeface="Arial" pitchFamily="34" charset="0"/>
              <a:buChar char="•"/>
            </a:pPr>
            <a:r>
              <a:rPr lang="en-US" dirty="0" smtClean="0">
                <a:latin typeface="Times New Roman" pitchFamily="18" charset="0"/>
                <a:cs typeface="Times New Roman" pitchFamily="18" charset="0"/>
              </a:rPr>
              <a:t>Consumers </a:t>
            </a:r>
            <a:r>
              <a:rPr lang="en-US" dirty="0">
                <a:latin typeface="Times New Roman" pitchFamily="18" charset="0"/>
                <a:cs typeface="Times New Roman" pitchFamily="18" charset="0"/>
              </a:rPr>
              <a:t>do not know recipes and health benefits of </a:t>
            </a:r>
            <a:r>
              <a:rPr lang="en-US" dirty="0" smtClean="0">
                <a:latin typeface="Times New Roman" pitchFamily="18" charset="0"/>
                <a:cs typeface="Times New Roman" pitchFamily="18" charset="0"/>
              </a:rPr>
              <a:t>millets.</a:t>
            </a:r>
          </a:p>
          <a:p>
            <a:r>
              <a:rPr lang="en-US" b="1" dirty="0" smtClean="0">
                <a:latin typeface="Times New Roman" pitchFamily="18" charset="0"/>
                <a:cs typeface="Times New Roman" pitchFamily="18" charset="0"/>
              </a:rPr>
              <a:t>Vision</a:t>
            </a:r>
          </a:p>
          <a:p>
            <a:r>
              <a:rPr lang="en-US" dirty="0" err="1" smtClean="0">
                <a:latin typeface="Times New Roman" pitchFamily="18" charset="0"/>
                <a:cs typeface="Times New Roman" pitchFamily="18" charset="0"/>
              </a:rPr>
              <a:t>Siri-Dhanya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Hub is a “Millet Value Chain” application that supports both farmers and consumers</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Main Features</a:t>
            </a:r>
          </a:p>
          <a:p>
            <a:pPr marL="285750" indent="-285750">
              <a:buFont typeface="Arial" pitchFamily="34" charset="0"/>
              <a:buChar char="•"/>
            </a:pPr>
            <a:r>
              <a:rPr lang="en-US" dirty="0" smtClean="0">
                <a:latin typeface="Times New Roman" pitchFamily="18" charset="0"/>
                <a:cs typeface="Times New Roman" pitchFamily="18" charset="0"/>
              </a:rPr>
              <a:t>Live </a:t>
            </a:r>
            <a:r>
              <a:rPr lang="en-US" dirty="0" err="1">
                <a:latin typeface="Times New Roman" pitchFamily="18" charset="0"/>
                <a:cs typeface="Times New Roman" pitchFamily="18" charset="0"/>
              </a:rPr>
              <a:t>mandi</a:t>
            </a:r>
            <a:r>
              <a:rPr lang="en-US" dirty="0">
                <a:latin typeface="Times New Roman" pitchFamily="18" charset="0"/>
                <a:cs typeface="Times New Roman" pitchFamily="18" charset="0"/>
              </a:rPr>
              <a:t> price </a:t>
            </a:r>
            <a:r>
              <a:rPr lang="en-US" dirty="0" smtClean="0">
                <a:latin typeface="Times New Roman" pitchFamily="18" charset="0"/>
                <a:cs typeface="Times New Roman" pitchFamily="18" charset="0"/>
              </a:rPr>
              <a:t>tracking</a:t>
            </a:r>
          </a:p>
          <a:p>
            <a:pPr marL="285750" indent="-285750">
              <a:buFont typeface="Arial" pitchFamily="34" charset="0"/>
              <a:buChar char="•"/>
            </a:pPr>
            <a:r>
              <a:rPr lang="en-US" dirty="0" smtClean="0">
                <a:latin typeface="Times New Roman" pitchFamily="18" charset="0"/>
                <a:cs typeface="Times New Roman" pitchFamily="18" charset="0"/>
              </a:rPr>
              <a:t>Millet </a:t>
            </a:r>
            <a:r>
              <a:rPr lang="en-US" dirty="0">
                <a:latin typeface="Times New Roman" pitchFamily="18" charset="0"/>
                <a:cs typeface="Times New Roman" pitchFamily="18" charset="0"/>
              </a:rPr>
              <a:t>recipe </a:t>
            </a:r>
            <a:r>
              <a:rPr lang="en-US" dirty="0" smtClean="0">
                <a:latin typeface="Times New Roman" pitchFamily="18" charset="0"/>
                <a:cs typeface="Times New Roman" pitchFamily="18" charset="0"/>
              </a:rPr>
              <a:t>guide</a:t>
            </a:r>
          </a:p>
          <a:p>
            <a:pPr marL="285750" indent="-285750">
              <a:buFont typeface="Arial" pitchFamily="34" charset="0"/>
              <a:buChar char="•"/>
            </a:pPr>
            <a:r>
              <a:rPr lang="en-US" dirty="0" smtClean="0">
                <a:latin typeface="Times New Roman" pitchFamily="18" charset="0"/>
                <a:cs typeface="Times New Roman" pitchFamily="18" charset="0"/>
              </a:rPr>
              <a:t>Health </a:t>
            </a:r>
            <a:r>
              <a:rPr lang="en-US" dirty="0">
                <a:latin typeface="Times New Roman" pitchFamily="18" charset="0"/>
                <a:cs typeface="Times New Roman" pitchFamily="18" charset="0"/>
              </a:rPr>
              <a:t>benefits </a:t>
            </a:r>
            <a:r>
              <a:rPr lang="en-US" dirty="0" smtClean="0">
                <a:latin typeface="Times New Roman" pitchFamily="18" charset="0"/>
                <a:cs typeface="Times New Roman" pitchFamily="18" charset="0"/>
              </a:rPr>
              <a:t>information</a:t>
            </a:r>
          </a:p>
          <a:p>
            <a:pPr marL="285750" indent="-285750">
              <a:buFont typeface="Arial" pitchFamily="34" charset="0"/>
              <a:buChar char="•"/>
            </a:pPr>
            <a:r>
              <a:rPr lang="en-US" dirty="0" smtClean="0">
                <a:latin typeface="Times New Roman" pitchFamily="18" charset="0"/>
                <a:cs typeface="Times New Roman" pitchFamily="18" charset="0"/>
              </a:rPr>
              <a:t>Direct </a:t>
            </a:r>
            <a:r>
              <a:rPr lang="en-US" dirty="0">
                <a:latin typeface="Times New Roman" pitchFamily="18" charset="0"/>
                <a:cs typeface="Times New Roman" pitchFamily="18" charset="0"/>
              </a:rPr>
              <a:t>farmer </a:t>
            </a:r>
            <a:r>
              <a:rPr lang="en-US" dirty="0" smtClean="0">
                <a:latin typeface="Times New Roman" pitchFamily="18" charset="0"/>
                <a:cs typeface="Times New Roman" pitchFamily="18" charset="0"/>
              </a:rPr>
              <a:t>connection</a:t>
            </a:r>
          </a:p>
          <a:p>
            <a:r>
              <a:rPr lang="en-US" b="1" dirty="0" smtClean="0">
                <a:latin typeface="Times New Roman" pitchFamily="18" charset="0"/>
                <a:cs typeface="Times New Roman" pitchFamily="18" charset="0"/>
              </a:rPr>
              <a:t>Technologies Used</a:t>
            </a:r>
          </a:p>
          <a:p>
            <a:pPr marL="285750" indent="-285750">
              <a:buFont typeface="Arial" pitchFamily="34" charset="0"/>
              <a:buChar char="•"/>
            </a:pPr>
            <a:r>
              <a:rPr lang="en-US" dirty="0" smtClean="0">
                <a:latin typeface="Times New Roman" pitchFamily="18" charset="0"/>
                <a:cs typeface="Times New Roman" pitchFamily="18" charset="0"/>
              </a:rPr>
              <a:t>Android Studio</a:t>
            </a:r>
          </a:p>
          <a:p>
            <a:pPr marL="285750" indent="-285750">
              <a:buFont typeface="Arial" pitchFamily="34" charset="0"/>
              <a:buChar char="•"/>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KotlinX</a:t>
            </a:r>
            <a:r>
              <a:rPr lang="en-US" dirty="0" smtClean="0">
                <a:latin typeface="Times New Roman" pitchFamily="18" charset="0"/>
                <a:cs typeface="Times New Roman" pitchFamily="18" charset="0"/>
              </a:rPr>
              <a:t> </a:t>
            </a:r>
          </a:p>
          <a:p>
            <a:pPr marL="285750" indent="-285750">
              <a:buFont typeface="Arial" pitchFamily="34" charset="0"/>
              <a:buChar char="•"/>
            </a:pPr>
            <a:r>
              <a:rPr lang="en-US" dirty="0" err="1" smtClean="0">
                <a:latin typeface="Times New Roman" pitchFamily="18" charset="0"/>
                <a:cs typeface="Times New Roman" pitchFamily="18" charset="0"/>
              </a:rPr>
              <a:t>MLGenAI</a:t>
            </a:r>
            <a:r>
              <a:rPr lang="en-US" dirty="0" smtClean="0">
                <a:latin typeface="Times New Roman" pitchFamily="18" charset="0"/>
                <a:cs typeface="Times New Roman" pitchFamily="18" charset="0"/>
              </a:rPr>
              <a:t> </a:t>
            </a:r>
          </a:p>
          <a:p>
            <a:pPr marL="285750" indent="-285750">
              <a:buFont typeface="Arial" pitchFamily="34" charset="0"/>
              <a:buChar char="•"/>
            </a:pPr>
            <a:r>
              <a:rPr lang="en-US" dirty="0" smtClean="0">
                <a:latin typeface="Times New Roman" pitchFamily="18" charset="0"/>
                <a:cs typeface="Times New Roman" pitchFamily="18" charset="0"/>
              </a:rPr>
              <a:t>Concepts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813011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703" y="609600"/>
            <a:ext cx="8229600" cy="5632311"/>
          </a:xfrm>
          <a:prstGeom prst="rect">
            <a:avLst/>
          </a:prstGeom>
        </p:spPr>
        <p:txBody>
          <a:bodyPr wrap="square">
            <a:spAutoFit/>
          </a:bodyPr>
          <a:lstStyle/>
          <a:p>
            <a:pPr algn="just"/>
            <a:r>
              <a:rPr lang="en-US" b="1" dirty="0">
                <a:latin typeface="Times New Roman" pitchFamily="18" charset="0"/>
                <a:cs typeface="Times New Roman" pitchFamily="18" charset="0"/>
              </a:rPr>
              <a:t>Impact, Features &amp; </a:t>
            </a:r>
            <a:r>
              <a:rPr lang="en-US" b="1" dirty="0" smtClean="0">
                <a:latin typeface="Times New Roman" pitchFamily="18" charset="0"/>
                <a:cs typeface="Times New Roman" pitchFamily="18" charset="0"/>
              </a:rPr>
              <a:t>Conclusion</a:t>
            </a:r>
            <a:endParaRPr lang="en-US" dirty="0" smtClean="0">
              <a:latin typeface="Times New Roman" pitchFamily="18" charset="0"/>
              <a:cs typeface="Times New Roman" pitchFamily="18" charset="0"/>
            </a:endParaRPr>
          </a:p>
          <a:p>
            <a:pPr marL="285750" indent="-285750" algn="just">
              <a:buFont typeface="Arial" pitchFamily="34" charset="0"/>
              <a:buChar char="•"/>
            </a:pPr>
            <a:r>
              <a:rPr lang="en-US" dirty="0" smtClean="0">
                <a:latin typeface="Times New Roman" pitchFamily="18" charset="0"/>
                <a:cs typeface="Times New Roman" pitchFamily="18" charset="0"/>
              </a:rPr>
              <a:t>User checks millet prices</a:t>
            </a:r>
          </a:p>
          <a:p>
            <a:pPr marL="285750" indent="-285750" algn="just">
              <a:buFont typeface="Arial" pitchFamily="34" charset="0"/>
              <a:buChar char="•"/>
            </a:pPr>
            <a:r>
              <a:rPr lang="en-US" dirty="0" smtClean="0">
                <a:latin typeface="Times New Roman" pitchFamily="18" charset="0"/>
                <a:cs typeface="Times New Roman" pitchFamily="18" charset="0"/>
              </a:rPr>
              <a:t>User explores millet recipes</a:t>
            </a:r>
          </a:p>
          <a:p>
            <a:pPr marL="285750" indent="-285750" algn="just">
              <a:buFont typeface="Arial" pitchFamily="34" charset="0"/>
              <a:buChar char="•"/>
            </a:pPr>
            <a:r>
              <a:rPr lang="en-US" dirty="0" smtClean="0">
                <a:latin typeface="Times New Roman" pitchFamily="18" charset="0"/>
                <a:cs typeface="Times New Roman" pitchFamily="18" charset="0"/>
              </a:rPr>
              <a:t>User learns health benefits</a:t>
            </a:r>
          </a:p>
          <a:p>
            <a:pPr marL="285750" indent="-285750" algn="just">
              <a:buFont typeface="Arial" pitchFamily="34" charset="0"/>
              <a:buChar char="•"/>
            </a:pPr>
            <a:r>
              <a:rPr lang="en-US" dirty="0" smtClean="0">
                <a:latin typeface="Times New Roman" pitchFamily="18" charset="0"/>
                <a:cs typeface="Times New Roman" pitchFamily="18" charset="0"/>
              </a:rPr>
              <a:t>User connects with farmers/FPOs</a:t>
            </a:r>
          </a:p>
          <a:p>
            <a:pPr marL="285750" indent="-285750" algn="just">
              <a:buFont typeface="Arial" pitchFamily="34" charset="0"/>
              <a:buChar char="•"/>
            </a:pPr>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Impact Goals</a:t>
            </a:r>
          </a:p>
          <a:p>
            <a:pPr marL="285750" indent="-285750" algn="just">
              <a:buFont typeface="Arial" pitchFamily="34" charset="0"/>
              <a:buChar char="•"/>
            </a:pPr>
            <a:r>
              <a:rPr lang="en-US" dirty="0" smtClean="0">
                <a:latin typeface="Times New Roman" pitchFamily="18" charset="0"/>
                <a:cs typeface="Times New Roman" pitchFamily="18" charset="0"/>
              </a:rPr>
              <a:t>Promote </a:t>
            </a:r>
            <a:r>
              <a:rPr lang="en-US" dirty="0">
                <a:latin typeface="Times New Roman" pitchFamily="18" charset="0"/>
                <a:cs typeface="Times New Roman" pitchFamily="18" charset="0"/>
              </a:rPr>
              <a:t>nutrition </a:t>
            </a:r>
            <a:r>
              <a:rPr lang="en-US" dirty="0" smtClean="0">
                <a:latin typeface="Times New Roman" pitchFamily="18" charset="0"/>
                <a:cs typeface="Times New Roman" pitchFamily="18" charset="0"/>
              </a:rPr>
              <a:t>security </a:t>
            </a:r>
          </a:p>
          <a:p>
            <a:pPr marL="285750" indent="-285750" algn="just">
              <a:buFont typeface="Arial" pitchFamily="34" charset="0"/>
              <a:buChar char="•"/>
            </a:pPr>
            <a:r>
              <a:rPr lang="en-US" dirty="0" smtClean="0">
                <a:latin typeface="Times New Roman" pitchFamily="18" charset="0"/>
                <a:cs typeface="Times New Roman" pitchFamily="18" charset="0"/>
              </a:rPr>
              <a:t>Encourage </a:t>
            </a:r>
            <a:r>
              <a:rPr lang="en-US" dirty="0">
                <a:latin typeface="Times New Roman" pitchFamily="18" charset="0"/>
                <a:cs typeface="Times New Roman" pitchFamily="18" charset="0"/>
              </a:rPr>
              <a:t>climate-resilient </a:t>
            </a:r>
            <a:r>
              <a:rPr lang="en-US" dirty="0" smtClean="0">
                <a:latin typeface="Times New Roman" pitchFamily="18" charset="0"/>
                <a:cs typeface="Times New Roman" pitchFamily="18" charset="0"/>
              </a:rPr>
              <a:t>crops</a:t>
            </a:r>
          </a:p>
          <a:p>
            <a:pPr marL="285750" indent="-285750" algn="just">
              <a:buFont typeface="Arial" pitchFamily="34" charset="0"/>
              <a:buChar char="•"/>
            </a:pPr>
            <a:r>
              <a:rPr lang="en-US" dirty="0" smtClean="0">
                <a:latin typeface="Times New Roman" pitchFamily="18" charset="0"/>
                <a:cs typeface="Times New Roman" pitchFamily="18" charset="0"/>
              </a:rPr>
              <a:t>Improve </a:t>
            </a:r>
            <a:r>
              <a:rPr lang="en-US" dirty="0">
                <a:latin typeface="Times New Roman" pitchFamily="18" charset="0"/>
                <a:cs typeface="Times New Roman" pitchFamily="18" charset="0"/>
              </a:rPr>
              <a:t>farmer </a:t>
            </a:r>
            <a:r>
              <a:rPr lang="en-US" dirty="0" smtClean="0">
                <a:latin typeface="Times New Roman" pitchFamily="18" charset="0"/>
                <a:cs typeface="Times New Roman" pitchFamily="18" charset="0"/>
              </a:rPr>
              <a:t>prosperity</a:t>
            </a:r>
          </a:p>
          <a:p>
            <a:pPr marL="285750" indent="-285750" algn="just">
              <a:buFont typeface="Arial" pitchFamily="34" charset="0"/>
              <a:buChar char="•"/>
            </a:pPr>
            <a:r>
              <a:rPr lang="en-US" dirty="0" smtClean="0">
                <a:latin typeface="Times New Roman" pitchFamily="18" charset="0"/>
                <a:cs typeface="Times New Roman" pitchFamily="18" charset="0"/>
              </a:rPr>
              <a:t>Increase </a:t>
            </a:r>
            <a:r>
              <a:rPr lang="en-US" dirty="0">
                <a:latin typeface="Times New Roman" pitchFamily="18" charset="0"/>
                <a:cs typeface="Times New Roman" pitchFamily="18" charset="0"/>
              </a:rPr>
              <a:t>millet </a:t>
            </a:r>
            <a:r>
              <a:rPr lang="en-US" dirty="0" smtClean="0">
                <a:latin typeface="Times New Roman" pitchFamily="18" charset="0"/>
                <a:cs typeface="Times New Roman" pitchFamily="18" charset="0"/>
              </a:rPr>
              <a:t>awareness</a:t>
            </a:r>
          </a:p>
          <a:p>
            <a:pPr marL="285750" indent="-285750" algn="just">
              <a:buFont typeface="Arial" pitchFamily="34" charset="0"/>
              <a:buChar char="•"/>
            </a:pPr>
            <a:r>
              <a:rPr lang="en-US" dirty="0" smtClean="0">
                <a:latin typeface="Times New Roman" pitchFamily="18" charset="0"/>
                <a:cs typeface="Times New Roman" pitchFamily="18" charset="0"/>
              </a:rPr>
              <a:t>Technical Implementation</a:t>
            </a:r>
          </a:p>
          <a:p>
            <a:pPr marL="285750" indent="-285750" algn="just">
              <a:buFont typeface="Arial" pitchFamily="34" charset="0"/>
              <a:buChar char="•"/>
            </a:pPr>
            <a:r>
              <a:rPr lang="en-US" dirty="0" smtClean="0">
                <a:latin typeface="Times New Roman" pitchFamily="18" charset="0"/>
                <a:cs typeface="Times New Roman" pitchFamily="18" charset="0"/>
              </a:rPr>
              <a:t>Recycler View </a:t>
            </a:r>
            <a:r>
              <a:rPr lang="en-US" dirty="0">
                <a:latin typeface="Times New Roman" pitchFamily="18" charset="0"/>
                <a:cs typeface="Times New Roman" pitchFamily="18" charset="0"/>
              </a:rPr>
              <a:t>for price </a:t>
            </a:r>
            <a:r>
              <a:rPr lang="en-US" dirty="0" smtClean="0">
                <a:latin typeface="Times New Roman" pitchFamily="18" charset="0"/>
                <a:cs typeface="Times New Roman" pitchFamily="18" charset="0"/>
              </a:rPr>
              <a:t>lists</a:t>
            </a:r>
          </a:p>
          <a:p>
            <a:pPr marL="285750" indent="-285750" algn="just">
              <a:buFont typeface="Arial" pitchFamily="34" charset="0"/>
              <a:buChar char="•"/>
            </a:pPr>
            <a:r>
              <a:rPr lang="en-US" dirty="0" smtClean="0">
                <a:latin typeface="Times New Roman" pitchFamily="18" charset="0"/>
                <a:cs typeface="Times New Roman" pitchFamily="18" charset="0"/>
              </a:rPr>
              <a:t>Search </a:t>
            </a:r>
            <a:r>
              <a:rPr lang="en-US" dirty="0">
                <a:latin typeface="Times New Roman" pitchFamily="18" charset="0"/>
                <a:cs typeface="Times New Roman" pitchFamily="18" charset="0"/>
              </a:rPr>
              <a:t>bar for </a:t>
            </a:r>
            <a:r>
              <a:rPr lang="en-US" dirty="0" smtClean="0">
                <a:latin typeface="Times New Roman" pitchFamily="18" charset="0"/>
                <a:cs typeface="Times New Roman" pitchFamily="18" charset="0"/>
              </a:rPr>
              <a:t>recipes</a:t>
            </a:r>
          </a:p>
          <a:p>
            <a:pPr marL="285750" indent="-285750" algn="just">
              <a:buFont typeface="Arial" pitchFamily="34" charset="0"/>
              <a:buChar char="•"/>
            </a:pPr>
            <a:r>
              <a:rPr lang="en-US" dirty="0" smtClean="0">
                <a:latin typeface="Times New Roman" pitchFamily="18" charset="0"/>
                <a:cs typeface="Times New Roman" pitchFamily="18" charset="0"/>
              </a:rPr>
              <a:t>High-quality </a:t>
            </a:r>
            <a:r>
              <a:rPr lang="en-US" dirty="0">
                <a:latin typeface="Times New Roman" pitchFamily="18" charset="0"/>
                <a:cs typeface="Times New Roman" pitchFamily="18" charset="0"/>
              </a:rPr>
              <a:t>food </a:t>
            </a:r>
            <a:r>
              <a:rPr lang="en-US" dirty="0" smtClean="0">
                <a:latin typeface="Times New Roman" pitchFamily="18" charset="0"/>
                <a:cs typeface="Times New Roman" pitchFamily="18" charset="0"/>
              </a:rPr>
              <a:t>images</a:t>
            </a:r>
          </a:p>
          <a:p>
            <a:pPr marL="285750" indent="-285750" algn="just">
              <a:buFont typeface="Arial" pitchFamily="34" charset="0"/>
              <a:buChar char="•"/>
            </a:pPr>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Conclusion</a:t>
            </a:r>
          </a:p>
          <a:p>
            <a:pPr algn="just"/>
            <a:r>
              <a:rPr lang="en-US" dirty="0" err="1" smtClean="0">
                <a:latin typeface="Times New Roman" pitchFamily="18" charset="0"/>
                <a:cs typeface="Times New Roman" pitchFamily="18" charset="0"/>
              </a:rPr>
              <a:t>Siri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Dhanya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Hub is an AI-assisted Android application designed to connect farmers and consumers through millet awareness, market insights, recipes, and health education.</a:t>
            </a:r>
          </a:p>
        </p:txBody>
      </p:sp>
    </p:spTree>
    <p:extLst>
      <p:ext uri="{BB962C8B-B14F-4D97-AF65-F5344CB8AC3E}">
        <p14:creationId xmlns:p14="http://schemas.microsoft.com/office/powerpoint/2010/main" val="2449744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
            <a:ext cx="6553200" cy="2895600"/>
          </a:xfrm>
          <a:prstGeom prst="rect">
            <a:avLst/>
          </a:prstGeom>
        </p:spPr>
      </p:pic>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16303" t="-12964" r="-21832" b="10690"/>
          <a:stretch/>
        </p:blipFill>
        <p:spPr>
          <a:xfrm>
            <a:off x="-533400" y="2971800"/>
            <a:ext cx="8707171" cy="2819400"/>
          </a:xfrm>
          <a:prstGeom prst="rect">
            <a:avLst/>
          </a:prstGeom>
        </p:spPr>
      </p:pic>
      <p:sp>
        <p:nvSpPr>
          <p:cNvPr id="4" name="TextBox 3"/>
          <p:cNvSpPr txBox="1"/>
          <p:nvPr/>
        </p:nvSpPr>
        <p:spPr>
          <a:xfrm>
            <a:off x="533400" y="5925234"/>
            <a:ext cx="6477000" cy="646331"/>
          </a:xfrm>
          <a:prstGeom prst="rect">
            <a:avLst/>
          </a:prstGeom>
          <a:noFill/>
        </p:spPr>
        <p:txBody>
          <a:bodyPr wrap="square" rtlCol="0">
            <a:spAutoFit/>
          </a:bodyPr>
          <a:lstStyle/>
          <a:p>
            <a:r>
              <a:rPr lang="en-US" dirty="0"/>
              <a:t>Fig 3</a:t>
            </a:r>
            <a:r>
              <a:rPr lang="en-US" dirty="0" smtClean="0"/>
              <a:t>: </a:t>
            </a:r>
            <a:r>
              <a:rPr lang="en-US" dirty="0" err="1" smtClean="0"/>
              <a:t>MainActivity</a:t>
            </a:r>
            <a:r>
              <a:rPr lang="en-US" dirty="0" smtClean="0"/>
              <a:t> </a:t>
            </a:r>
            <a:r>
              <a:rPr lang="en-US" dirty="0" err="1"/>
              <a:t>Kotlin</a:t>
            </a:r>
            <a:r>
              <a:rPr lang="en-US" dirty="0"/>
              <a:t> code implementation in Android Studio for </a:t>
            </a:r>
            <a:r>
              <a:rPr lang="en-US" dirty="0" err="1"/>
              <a:t>Siri-Dhanya</a:t>
            </a:r>
            <a:r>
              <a:rPr lang="en-US" dirty="0"/>
              <a:t> Hub application</a:t>
            </a:r>
          </a:p>
        </p:txBody>
      </p:sp>
    </p:spTree>
    <p:extLst>
      <p:ext uri="{BB962C8B-B14F-4D97-AF65-F5344CB8AC3E}">
        <p14:creationId xmlns:p14="http://schemas.microsoft.com/office/powerpoint/2010/main" val="24153907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67485"/>
          </a:xfrm>
        </p:spPr>
        <p:txBody>
          <a:bodyPr>
            <a:normAutofit/>
          </a:bodyPr>
          <a:lstStyle/>
          <a:p>
            <a:r>
              <a:rPr lang="en-IN" sz="3600" b="1" dirty="0" smtClean="0">
                <a:uFill>
                  <a:solidFill>
                    <a:srgbClr val="000000"/>
                  </a:solidFill>
                </a:uFill>
                <a:latin typeface="Times New Roman" pitchFamily="18" charset="0"/>
                <a:cs typeface="Times New Roman" pitchFamily="18" charset="0"/>
              </a:rPr>
              <a:t>Results, Challenges &amp; Solutions</a:t>
            </a:r>
            <a:endParaRPr lang="en-US" sz="3600" b="1" dirty="0"/>
          </a:p>
        </p:txBody>
      </p:sp>
      <p:sp>
        <p:nvSpPr>
          <p:cNvPr id="3" name="Rectangle 2"/>
          <p:cNvSpPr/>
          <p:nvPr/>
        </p:nvSpPr>
        <p:spPr>
          <a:xfrm>
            <a:off x="230863" y="1066800"/>
            <a:ext cx="6248400" cy="3046988"/>
          </a:xfrm>
          <a:prstGeom prst="rect">
            <a:avLst/>
          </a:prstGeom>
        </p:spPr>
        <p:txBody>
          <a:bodyPr wrap="square">
            <a:spAutoFit/>
          </a:bodyPr>
          <a:lstStyle/>
          <a:p>
            <a:pPr algn="just"/>
            <a:r>
              <a:rPr lang="en-IN" sz="2400" b="1" dirty="0" smtClean="0">
                <a:latin typeface="Times New Roman" pitchFamily="18" charset="0"/>
                <a:cs typeface="Times New Roman" pitchFamily="18" charset="0"/>
              </a:rPr>
              <a:t>Results / Impact</a:t>
            </a:r>
            <a:r>
              <a:rPr lang="en-US" sz="2400" b="1" dirty="0" smtClean="0">
                <a:latin typeface="Times New Roman" pitchFamily="18" charset="0"/>
                <a:cs typeface="Times New Roman" pitchFamily="18" charset="0"/>
              </a:rPr>
              <a:t>:</a:t>
            </a:r>
          </a:p>
          <a:p>
            <a:pPr marL="285750" indent="-285750" algn="just">
              <a:buFont typeface="Arial" panose="020B0604020202020204" pitchFamily="34" charset="0"/>
              <a:buChar char="•"/>
            </a:pPr>
            <a:r>
              <a:rPr lang="en-US" sz="2400" dirty="0" smtClean="0">
                <a:latin typeface="Times New Roman" pitchFamily="18" charset="0"/>
                <a:cs typeface="Times New Roman" pitchFamily="18" charset="0"/>
              </a:rPr>
              <a:t>Successfully developed functional Android applications</a:t>
            </a:r>
          </a:p>
          <a:p>
            <a:pPr algn="just"/>
            <a:r>
              <a:rPr lang="en-US" sz="2400" dirty="0" smtClean="0">
                <a:latin typeface="Times New Roman" pitchFamily="18" charset="0"/>
                <a:cs typeface="Times New Roman" pitchFamily="18" charset="0"/>
              </a:rPr>
              <a:t>Gained strong understanding of:</a:t>
            </a:r>
          </a:p>
          <a:p>
            <a:pPr lvl="1" algn="just"/>
            <a:r>
              <a:rPr lang="en-US" sz="2400" dirty="0" smtClean="0">
                <a:latin typeface="Times New Roman" pitchFamily="18" charset="0"/>
                <a:cs typeface="Times New Roman" pitchFamily="18" charset="0"/>
              </a:rPr>
              <a:t>Android app structure </a:t>
            </a:r>
          </a:p>
          <a:p>
            <a:pPr lvl="1" algn="just"/>
            <a:r>
              <a:rPr lang="en-US" sz="2400" dirty="0" smtClean="0">
                <a:latin typeface="Times New Roman" pitchFamily="18" charset="0"/>
                <a:cs typeface="Times New Roman" pitchFamily="18" charset="0"/>
              </a:rPr>
              <a:t>UI/UX design </a:t>
            </a:r>
          </a:p>
          <a:p>
            <a:pPr lvl="1" algn="just"/>
            <a:r>
              <a:rPr lang="en-US" sz="2400" dirty="0" smtClean="0">
                <a:latin typeface="Times New Roman" pitchFamily="18" charset="0"/>
                <a:cs typeface="Times New Roman" pitchFamily="18" charset="0"/>
              </a:rPr>
              <a:t>AI-assisted development</a:t>
            </a:r>
          </a:p>
          <a:p>
            <a:pPr marL="285750" indent="-285750" algn="just">
              <a:buFont typeface="Arial" panose="020B0604020202020204" pitchFamily="34" charset="0"/>
              <a:buChar char="•"/>
            </a:pPr>
            <a:r>
              <a:rPr lang="en-US" sz="2400" dirty="0" smtClean="0">
                <a:latin typeface="Times New Roman" pitchFamily="18" charset="0"/>
                <a:cs typeface="Times New Roman" pitchFamily="18" charset="0"/>
              </a:rPr>
              <a:t>Practiced through Google </a:t>
            </a:r>
            <a:r>
              <a:rPr lang="en-US" sz="2400" dirty="0" err="1" smtClean="0">
                <a:latin typeface="Times New Roman" pitchFamily="18" charset="0"/>
                <a:cs typeface="Times New Roman" pitchFamily="18" charset="0"/>
              </a:rPr>
              <a:t>Codelabs</a:t>
            </a:r>
            <a:endParaRPr lang="en-US" sz="2400" dirty="0">
              <a:latin typeface="Times New Roman" pitchFamily="18" charset="0"/>
              <a:cs typeface="Times New Roman" pitchFamily="18" charset="0"/>
            </a:endParaRPr>
          </a:p>
        </p:txBody>
      </p:sp>
      <p:sp>
        <p:nvSpPr>
          <p:cNvPr id="4" name="Rectangle 3"/>
          <p:cNvSpPr/>
          <p:nvPr/>
        </p:nvSpPr>
        <p:spPr>
          <a:xfrm>
            <a:off x="334978" y="4495800"/>
            <a:ext cx="5791200" cy="1938992"/>
          </a:xfrm>
          <a:prstGeom prst="rect">
            <a:avLst/>
          </a:prstGeom>
        </p:spPr>
        <p:txBody>
          <a:bodyPr wrap="square">
            <a:spAutoFit/>
          </a:bodyPr>
          <a:lstStyle/>
          <a:p>
            <a:r>
              <a:rPr lang="en-IN" sz="2400" b="1" dirty="0" smtClean="0">
                <a:latin typeface="Times New Roman" pitchFamily="18" charset="0"/>
                <a:cs typeface="Times New Roman" pitchFamily="18" charset="0"/>
              </a:rPr>
              <a:t>Challenges Faced :</a:t>
            </a:r>
          </a:p>
          <a:p>
            <a:pPr marL="342900" indent="-342900">
              <a:buFont typeface="Arial" panose="020B0604020202020204" pitchFamily="34" charset="0"/>
              <a:buChar char="•"/>
            </a:pPr>
            <a:r>
              <a:rPr lang="en-US" sz="2400" dirty="0" smtClean="0">
                <a:latin typeface="Times New Roman" pitchFamily="18" charset="0"/>
                <a:cs typeface="Times New Roman" pitchFamily="18" charset="0"/>
              </a:rPr>
              <a:t>Understanding Android architecture</a:t>
            </a:r>
          </a:p>
          <a:p>
            <a:pPr marL="342900" indent="-342900">
              <a:buFont typeface="Arial" panose="020B0604020202020204" pitchFamily="34" charset="0"/>
              <a:buChar char="•"/>
            </a:pPr>
            <a:r>
              <a:rPr lang="en-US" sz="2400" dirty="0" smtClean="0">
                <a:latin typeface="Times New Roman" pitchFamily="18" charset="0"/>
                <a:cs typeface="Times New Roman" pitchFamily="18" charset="0"/>
              </a:rPr>
              <a:t>Learning </a:t>
            </a:r>
            <a:r>
              <a:rPr lang="en-US" sz="2400" dirty="0" err="1" smtClean="0">
                <a:latin typeface="Times New Roman" pitchFamily="18" charset="0"/>
                <a:cs typeface="Times New Roman" pitchFamily="18" charset="0"/>
              </a:rPr>
              <a:t>Kotlin</a:t>
            </a:r>
            <a:r>
              <a:rPr lang="en-US" sz="2400" dirty="0" smtClean="0">
                <a:latin typeface="Times New Roman" pitchFamily="18" charset="0"/>
                <a:cs typeface="Times New Roman" pitchFamily="18" charset="0"/>
              </a:rPr>
              <a:t> quickly</a:t>
            </a:r>
          </a:p>
          <a:p>
            <a:pPr marL="342900" indent="-342900">
              <a:buFont typeface="Arial" panose="020B0604020202020204" pitchFamily="34" charset="0"/>
              <a:buChar char="•"/>
            </a:pPr>
            <a:r>
              <a:rPr lang="en-US" sz="2400" dirty="0" smtClean="0">
                <a:latin typeface="Times New Roman" pitchFamily="18" charset="0"/>
                <a:cs typeface="Times New Roman" pitchFamily="18" charset="0"/>
              </a:rPr>
              <a:t>Applying AI concepts in mobile apps</a:t>
            </a:r>
          </a:p>
          <a:p>
            <a:pPr marL="342900" indent="-342900">
              <a:buFont typeface="Arial" panose="020B0604020202020204" pitchFamily="34" charset="0"/>
              <a:buChar char="•"/>
            </a:pPr>
            <a:r>
              <a:rPr lang="en-US" sz="2400" dirty="0" smtClean="0">
                <a:latin typeface="Times New Roman" pitchFamily="18" charset="0"/>
                <a:cs typeface="Times New Roman" pitchFamily="18" charset="0"/>
              </a:rPr>
              <a:t>Debugging errors</a:t>
            </a:r>
            <a:endParaRPr lang="en-IN" sz="2400" dirty="0">
              <a:latin typeface="Times New Roman" pitchFamily="18" charset="0"/>
              <a:cs typeface="Times New Roman" pitchFamily="18" charset="0"/>
            </a:endParaRPr>
          </a:p>
        </p:txBody>
      </p:sp>
      <p:sp>
        <p:nvSpPr>
          <p:cNvPr id="5" name="Rectangle 4"/>
          <p:cNvSpPr/>
          <p:nvPr/>
        </p:nvSpPr>
        <p:spPr>
          <a:xfrm>
            <a:off x="5867400" y="2362200"/>
            <a:ext cx="3048000" cy="2677656"/>
          </a:xfrm>
          <a:prstGeom prst="rect">
            <a:avLst/>
          </a:prstGeom>
        </p:spPr>
        <p:txBody>
          <a:bodyPr wrap="square">
            <a:spAutoFit/>
          </a:bodyPr>
          <a:lstStyle/>
          <a:p>
            <a:r>
              <a:rPr lang="en-IN" sz="2400" b="1" dirty="0" smtClean="0">
                <a:latin typeface="Times New Roman" pitchFamily="18" charset="0"/>
                <a:cs typeface="Times New Roman" pitchFamily="18" charset="0"/>
              </a:rPr>
              <a:t>Solutions :</a:t>
            </a:r>
          </a:p>
          <a:p>
            <a:pPr marL="342900" indent="-342900">
              <a:buFont typeface="Arial" panose="020B0604020202020204" pitchFamily="34" charset="0"/>
              <a:buChar char="•"/>
            </a:pPr>
            <a:r>
              <a:rPr lang="en-IN" sz="2400" dirty="0" smtClean="0">
                <a:latin typeface="Times New Roman" pitchFamily="18" charset="0"/>
                <a:cs typeface="Times New Roman" pitchFamily="18" charset="0"/>
              </a:rPr>
              <a:t>Practiced using Google </a:t>
            </a:r>
            <a:r>
              <a:rPr lang="en-IN" sz="2400" dirty="0" err="1" smtClean="0">
                <a:latin typeface="Times New Roman" pitchFamily="18" charset="0"/>
                <a:cs typeface="Times New Roman" pitchFamily="18" charset="0"/>
              </a:rPr>
              <a:t>Codelabs</a:t>
            </a:r>
            <a:endParaRPr lang="en-IN" sz="2400" dirty="0" smtClean="0">
              <a:latin typeface="Times New Roman" pitchFamily="18" charset="0"/>
              <a:cs typeface="Times New Roman" pitchFamily="18" charset="0"/>
            </a:endParaRPr>
          </a:p>
          <a:p>
            <a:pPr marL="342900" indent="-342900">
              <a:buFont typeface="Arial" panose="020B0604020202020204" pitchFamily="34" charset="0"/>
              <a:buChar char="•"/>
            </a:pPr>
            <a:r>
              <a:rPr lang="en-IN" sz="2400" dirty="0" smtClean="0">
                <a:latin typeface="Times New Roman" pitchFamily="18" charset="0"/>
                <a:cs typeface="Times New Roman" pitchFamily="18" charset="0"/>
              </a:rPr>
              <a:t>Took guidance from mentors</a:t>
            </a:r>
          </a:p>
          <a:p>
            <a:pPr marL="342900" indent="-342900">
              <a:buFont typeface="Arial" panose="020B0604020202020204" pitchFamily="34" charset="0"/>
              <a:buChar char="•"/>
            </a:pPr>
            <a:r>
              <a:rPr lang="en-US" sz="2400" dirty="0" smtClean="0">
                <a:latin typeface="Times New Roman" pitchFamily="18" charset="0"/>
                <a:cs typeface="Times New Roman" pitchFamily="18" charset="0"/>
              </a:rPr>
              <a:t>Used AI tools for faster learning</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8296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rmAutofit/>
          </a:bodyPr>
          <a:lstStyle/>
          <a:p>
            <a:r>
              <a:rPr lang="en-IN" sz="3200" b="1" dirty="0" smtClean="0">
                <a:latin typeface="Times New Roman" pitchFamily="18" charset="0"/>
                <a:cs typeface="Times New Roman" pitchFamily="18" charset="0"/>
              </a:rPr>
              <a:t>Conclusion &amp; Future Impact</a:t>
            </a:r>
            <a:endParaRPr lang="en-US" sz="3200" b="1" dirty="0">
              <a:latin typeface="Times New Roman" pitchFamily="18" charset="0"/>
              <a:cs typeface="Times New Roman" pitchFamily="18" charset="0"/>
            </a:endParaRPr>
          </a:p>
        </p:txBody>
      </p:sp>
      <p:sp>
        <p:nvSpPr>
          <p:cNvPr id="3" name="Rectangle 2"/>
          <p:cNvSpPr/>
          <p:nvPr/>
        </p:nvSpPr>
        <p:spPr>
          <a:xfrm>
            <a:off x="228600" y="1143000"/>
            <a:ext cx="8382000" cy="3120623"/>
          </a:xfrm>
          <a:prstGeom prst="rect">
            <a:avLst/>
          </a:prstGeom>
        </p:spPr>
        <p:txBody>
          <a:bodyPr wrap="square">
            <a:spAutoFit/>
          </a:bodyPr>
          <a:lstStyle/>
          <a:p>
            <a:pPr marL="12700" indent="0">
              <a:lnSpc>
                <a:spcPct val="100000"/>
              </a:lnSpc>
              <a:spcBef>
                <a:spcPts val="95"/>
              </a:spcBef>
              <a:buNone/>
              <a:tabLst>
                <a:tab pos="299085" algn="l"/>
              </a:tabLst>
            </a:pPr>
            <a:r>
              <a:rPr lang="en-IN" sz="2500" b="1" dirty="0" smtClean="0">
                <a:latin typeface="Times New Roman" pitchFamily="18" charset="0"/>
                <a:cs typeface="Times New Roman" pitchFamily="18" charset="0"/>
              </a:rPr>
              <a:t>Conclusion :</a:t>
            </a:r>
          </a:p>
          <a:p>
            <a:pPr marL="355600" indent="-342900">
              <a:lnSpc>
                <a:spcPct val="100000"/>
              </a:lnSpc>
              <a:spcBef>
                <a:spcPts val="95"/>
              </a:spcBef>
              <a:tabLst>
                <a:tab pos="299085" algn="l"/>
              </a:tabLst>
            </a:pPr>
            <a:r>
              <a:rPr lang="en-US" sz="2000" dirty="0" smtClean="0">
                <a:latin typeface="Times New Roman" pitchFamily="18" charset="0"/>
                <a:cs typeface="Times New Roman" pitchFamily="18" charset="0"/>
              </a:rPr>
              <a:t>The internship is currently ongoing and focused on practical learning</a:t>
            </a:r>
          </a:p>
          <a:p>
            <a:pPr marL="355600" indent="-342900">
              <a:lnSpc>
                <a:spcPct val="100000"/>
              </a:lnSpc>
              <a:spcBef>
                <a:spcPts val="95"/>
              </a:spcBef>
              <a:tabLst>
                <a:tab pos="299085" algn="l"/>
              </a:tabLst>
            </a:pPr>
            <a:r>
              <a:rPr lang="en-US" sz="2000" dirty="0" smtClean="0">
                <a:latin typeface="Times New Roman" pitchFamily="18" charset="0"/>
                <a:cs typeface="Times New Roman" pitchFamily="18" charset="0"/>
              </a:rPr>
              <a:t>Successfully learned </a:t>
            </a:r>
            <a:r>
              <a:rPr lang="en-US" sz="2000" dirty="0" err="1" smtClean="0">
                <a:latin typeface="Times New Roman" pitchFamily="18" charset="0"/>
                <a:cs typeface="Times New Roman" pitchFamily="18" charset="0"/>
              </a:rPr>
              <a:t>Kotlin</a:t>
            </a:r>
            <a:r>
              <a:rPr lang="en-US" sz="2000" dirty="0" smtClean="0">
                <a:latin typeface="Times New Roman" pitchFamily="18" charset="0"/>
                <a:cs typeface="Times New Roman" pitchFamily="18" charset="0"/>
              </a:rPr>
              <a:t> fundamentals</a:t>
            </a:r>
          </a:p>
          <a:p>
            <a:pPr marL="355600" indent="-342900">
              <a:lnSpc>
                <a:spcPct val="100000"/>
              </a:lnSpc>
              <a:spcBef>
                <a:spcPts val="95"/>
              </a:spcBef>
              <a:tabLst>
                <a:tab pos="299085" algn="l"/>
              </a:tabLst>
            </a:pPr>
            <a:r>
              <a:rPr lang="en-US" sz="2000" dirty="0" smtClean="0">
                <a:latin typeface="Times New Roman" pitchFamily="18" charset="0"/>
                <a:cs typeface="Times New Roman" pitchFamily="18" charset="0"/>
              </a:rPr>
              <a:t>Built initial Android projects:</a:t>
            </a:r>
          </a:p>
          <a:p>
            <a:pPr marL="629920" lvl="1" indent="-342900">
              <a:lnSpc>
                <a:spcPct val="100000"/>
              </a:lnSpc>
              <a:spcBef>
                <a:spcPts val="95"/>
              </a:spcBef>
              <a:buFont typeface="Courier New" pitchFamily="49" charset="0"/>
              <a:buChar char="o"/>
              <a:tabLst>
                <a:tab pos="299085" algn="l"/>
              </a:tabLst>
            </a:pPr>
            <a:r>
              <a:rPr lang="en-US" sz="2200" dirty="0" smtClean="0">
                <a:latin typeface="Times New Roman" pitchFamily="18" charset="0"/>
                <a:cs typeface="Times New Roman" pitchFamily="18" charset="0"/>
              </a:rPr>
              <a:t>AI</a:t>
            </a:r>
            <a:r>
              <a:rPr lang="en-US" sz="2000" dirty="0" smtClean="0">
                <a:latin typeface="Times New Roman" pitchFamily="18" charset="0"/>
                <a:cs typeface="Times New Roman" pitchFamily="18" charset="0"/>
              </a:rPr>
              <a:t> Productivity App</a:t>
            </a:r>
          </a:p>
          <a:p>
            <a:pPr marL="629920" lvl="1" indent="-342900">
              <a:lnSpc>
                <a:spcPct val="100000"/>
              </a:lnSpc>
              <a:spcBef>
                <a:spcPts val="95"/>
              </a:spcBef>
              <a:buFont typeface="Courier New" pitchFamily="49" charset="0"/>
              <a:buChar char="o"/>
              <a:tabLst>
                <a:tab pos="299085" algn="l"/>
              </a:tabLst>
            </a:pPr>
            <a:r>
              <a:rPr lang="en-US" sz="2000" dirty="0" smtClean="0">
                <a:latin typeface="Times New Roman" pitchFamily="18" charset="0"/>
                <a:cs typeface="Times New Roman" pitchFamily="18" charset="0"/>
              </a:rPr>
              <a:t>Cupcake Ordering App</a:t>
            </a:r>
          </a:p>
          <a:p>
            <a:pPr marL="629920" lvl="1" indent="-342900">
              <a:lnSpc>
                <a:spcPct val="100000"/>
              </a:lnSpc>
              <a:spcBef>
                <a:spcPts val="95"/>
              </a:spcBef>
              <a:buFont typeface="Courier New" pitchFamily="49" charset="0"/>
              <a:buChar char="o"/>
              <a:tabLst>
                <a:tab pos="299085" algn="l"/>
              </a:tabLst>
            </a:pPr>
            <a:r>
              <a:rPr lang="en-US" sz="2000" dirty="0" err="1" smtClean="0">
                <a:latin typeface="Times New Roman" pitchFamily="18" charset="0"/>
                <a:cs typeface="Times New Roman" pitchFamily="18" charset="0"/>
              </a:rPr>
              <a:t>Biosage</a:t>
            </a:r>
            <a:r>
              <a:rPr lang="en-US" sz="2000" dirty="0" smtClean="0">
                <a:latin typeface="Times New Roman" pitchFamily="18" charset="0"/>
                <a:cs typeface="Times New Roman" pitchFamily="18" charset="0"/>
              </a:rPr>
              <a:t> app</a:t>
            </a:r>
            <a:endParaRPr lang="en-US" sz="2000" dirty="0" smtClean="0">
              <a:latin typeface="Times New Roman" pitchFamily="18" charset="0"/>
              <a:cs typeface="Times New Roman" pitchFamily="18" charset="0"/>
            </a:endParaRPr>
          </a:p>
          <a:p>
            <a:pPr marL="355600" indent="-342900">
              <a:lnSpc>
                <a:spcPct val="100000"/>
              </a:lnSpc>
              <a:spcBef>
                <a:spcPts val="95"/>
              </a:spcBef>
              <a:tabLst>
                <a:tab pos="299085" algn="l"/>
              </a:tabLst>
            </a:pPr>
            <a:r>
              <a:rPr lang="en-US" sz="2000" dirty="0" smtClean="0">
                <a:latin typeface="Times New Roman" pitchFamily="18" charset="0"/>
                <a:cs typeface="Times New Roman" pitchFamily="18" charset="0"/>
              </a:rPr>
              <a:t>Gained exposure to AI-assisted development using tools like Google AI Studio and Antigravity</a:t>
            </a:r>
            <a:endParaRPr lang="en-IN" sz="2000" dirty="0">
              <a:latin typeface="Times New Roman" pitchFamily="18" charset="0"/>
              <a:cs typeface="Times New Roman" pitchFamily="18" charset="0"/>
            </a:endParaRPr>
          </a:p>
        </p:txBody>
      </p:sp>
      <p:sp>
        <p:nvSpPr>
          <p:cNvPr id="4" name="Rectangle 3"/>
          <p:cNvSpPr/>
          <p:nvPr/>
        </p:nvSpPr>
        <p:spPr>
          <a:xfrm>
            <a:off x="411932" y="4302375"/>
            <a:ext cx="7208067" cy="2169825"/>
          </a:xfrm>
          <a:prstGeom prst="rect">
            <a:avLst/>
          </a:prstGeom>
        </p:spPr>
        <p:txBody>
          <a:bodyPr wrap="square">
            <a:spAutoFit/>
          </a:bodyPr>
          <a:lstStyle/>
          <a:p>
            <a:r>
              <a:rPr lang="en-IN" sz="2500" b="1" dirty="0" smtClean="0">
                <a:latin typeface="Times New Roman" pitchFamily="18" charset="0"/>
                <a:cs typeface="Times New Roman" pitchFamily="18" charset="0"/>
              </a:rPr>
              <a:t>Future Impact :</a:t>
            </a:r>
          </a:p>
          <a:p>
            <a:pPr marL="342900" indent="-342900">
              <a:buFont typeface="Arial" panose="020B0604020202020204" pitchFamily="34" charset="0"/>
              <a:buChar char="•"/>
            </a:pPr>
            <a:r>
              <a:rPr lang="en-US" sz="2200" dirty="0" smtClean="0">
                <a:latin typeface="Times New Roman" pitchFamily="18" charset="0"/>
                <a:cs typeface="Times New Roman" pitchFamily="18" charset="0"/>
              </a:rPr>
              <a:t>Planning to enhance projects with advanced features and AI integration</a:t>
            </a:r>
          </a:p>
          <a:p>
            <a:pPr marL="342900" indent="-342900">
              <a:buFont typeface="Arial" panose="020B0604020202020204" pitchFamily="34" charset="0"/>
              <a:buChar char="•"/>
            </a:pPr>
            <a:r>
              <a:rPr lang="en-US" sz="2200" dirty="0" smtClean="0">
                <a:latin typeface="Times New Roman" pitchFamily="18" charset="0"/>
                <a:cs typeface="Times New Roman" pitchFamily="18" charset="0"/>
              </a:rPr>
              <a:t>Aiming to strengthen skills in:</a:t>
            </a:r>
          </a:p>
          <a:p>
            <a:pPr marL="800100" lvl="1" indent="-342900">
              <a:buFont typeface="Arial" panose="020B0604020202020204" pitchFamily="34" charset="0"/>
              <a:buChar char="•"/>
            </a:pPr>
            <a:r>
              <a:rPr lang="en-US" sz="2200" dirty="0" smtClean="0">
                <a:latin typeface="Times New Roman" pitchFamily="18" charset="0"/>
                <a:cs typeface="Times New Roman" pitchFamily="18" charset="0"/>
              </a:rPr>
              <a:t>Android Development</a:t>
            </a:r>
          </a:p>
          <a:p>
            <a:pPr marL="800100" lvl="1" indent="-342900">
              <a:buFont typeface="Arial" panose="020B0604020202020204" pitchFamily="34" charset="0"/>
              <a:buChar char="•"/>
            </a:pPr>
            <a:r>
              <a:rPr lang="en-US" sz="2200" dirty="0" smtClean="0">
                <a:latin typeface="Times New Roman" pitchFamily="18" charset="0"/>
                <a:cs typeface="Times New Roman" pitchFamily="18" charset="0"/>
              </a:rPr>
              <a:t>Generative AI applications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8628584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697</TotalTime>
  <Words>1320</Words>
  <Application>Microsoft Office PowerPoint</Application>
  <PresentationFormat>On-screen Show (4:3)</PresentationFormat>
  <Paragraphs>186</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INTRODUCTION</vt:lpstr>
      <vt:lpstr>PowerPoint Presentation</vt:lpstr>
      <vt:lpstr>Company Overview</vt:lpstr>
      <vt:lpstr>PowerPoint Presentation</vt:lpstr>
      <vt:lpstr>Internship Objectives</vt:lpstr>
      <vt:lpstr>Technologies Used</vt:lpstr>
      <vt:lpstr> </vt:lpstr>
      <vt:lpstr>Key Projects &amp; Deliverables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Challenges &amp; Solutions</vt:lpstr>
      <vt:lpstr>Conclusion &amp; Future Impact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SSSSS</dc:creator>
  <cp:lastModifiedBy>SSSSS</cp:lastModifiedBy>
  <cp:revision>29</cp:revision>
  <dcterms:created xsi:type="dcterms:W3CDTF">2026-04-14T08:43:23Z</dcterms:created>
  <dcterms:modified xsi:type="dcterms:W3CDTF">2026-05-06T22:43:23Z</dcterms:modified>
</cp:coreProperties>
</file>